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2" r:id="rId5"/>
    <p:sldMasterId id="2147483670" r:id="rId6"/>
    <p:sldMasterId id="2147483686" r:id="rId7"/>
    <p:sldMasterId id="2147483694" r:id="rId8"/>
  </p:sldMasterIdLst>
  <p:notesMasterIdLst>
    <p:notesMasterId r:id="rId35"/>
  </p:notesMasterIdLst>
  <p:sldIdLst>
    <p:sldId id="256" r:id="rId9"/>
    <p:sldId id="347" r:id="rId10"/>
    <p:sldId id="258" r:id="rId11"/>
    <p:sldId id="261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7" r:id="rId23"/>
    <p:sldId id="348" r:id="rId24"/>
    <p:sldId id="350" r:id="rId25"/>
    <p:sldId id="349" r:id="rId26"/>
    <p:sldId id="351" r:id="rId27"/>
    <p:sldId id="352" r:id="rId28"/>
    <p:sldId id="280" r:id="rId29"/>
    <p:sldId id="353" r:id="rId30"/>
    <p:sldId id="281" r:id="rId31"/>
    <p:sldId id="283" r:id="rId32"/>
    <p:sldId id="354" r:id="rId33"/>
    <p:sldId id="264" r:id="rId3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80" userDrawn="1">
          <p15:clr>
            <a:srgbClr val="A4A3A4"/>
          </p15:clr>
        </p15:guide>
        <p15:guide id="4" orient="horz" pos="30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C4EB"/>
    <a:srgbClr val="9EE3E4"/>
    <a:srgbClr val="B2D27E"/>
    <a:srgbClr val="F9F0AD"/>
    <a:srgbClr val="FCD492"/>
    <a:srgbClr val="CCC7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7" autoAdjust="0"/>
    <p:restoredTop sz="97377" autoAdjust="0"/>
  </p:normalViewPr>
  <p:slideViewPr>
    <p:cSldViewPr snapToGrid="0" showGuides="1">
      <p:cViewPr varScale="1">
        <p:scale>
          <a:sx n="78" d="100"/>
          <a:sy n="78" d="100"/>
        </p:scale>
        <p:origin x="696" y="72"/>
      </p:cViewPr>
      <p:guideLst>
        <p:guide orient="horz" pos="2160"/>
        <p:guide pos="3840"/>
        <p:guide orient="horz" pos="880"/>
        <p:guide orient="horz" pos="300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tableStyles" Target="tableStyles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notesMaster" Target="notesMasters/notesMaster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k Uggla" userId="a00d500d-bfb9-4930-bea3-9d1783f502ce" providerId="ADAL" clId="{20692384-DACC-40A5-A2E8-65CF348EBD3B}"/>
    <pc:docChg chg="modSld">
      <pc:chgData name="Henrik Uggla" userId="a00d500d-bfb9-4930-bea3-9d1783f502ce" providerId="ADAL" clId="{20692384-DACC-40A5-A2E8-65CF348EBD3B}" dt="2026-05-12T09:10:45.561" v="0" actId="20577"/>
      <pc:docMkLst>
        <pc:docMk/>
      </pc:docMkLst>
      <pc:sldChg chg="modSp mod">
        <pc:chgData name="Henrik Uggla" userId="a00d500d-bfb9-4930-bea3-9d1783f502ce" providerId="ADAL" clId="{20692384-DACC-40A5-A2E8-65CF348EBD3B}" dt="2026-05-12T09:10:45.561" v="0" actId="20577"/>
        <pc:sldMkLst>
          <pc:docMk/>
          <pc:sldMk cId="2001531799" sldId="347"/>
        </pc:sldMkLst>
        <pc:spChg chg="mod">
          <ac:chgData name="Henrik Uggla" userId="a00d500d-bfb9-4930-bea3-9d1783f502ce" providerId="ADAL" clId="{20692384-DACC-40A5-A2E8-65CF348EBD3B}" dt="2026-05-12T09:10:45.561" v="0" actId="20577"/>
          <ac:spMkLst>
            <pc:docMk/>
            <pc:sldMk cId="2001531799" sldId="347"/>
            <ac:spMk id="4" creationId="{CF0F2F2D-72FC-70A0-3BE4-24D2278435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5AD5F-378A-4E69-A069-43E8F66DA733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2AC7B-5B14-48E0-A72A-055B31094F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83267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2AC7B-5B14-48E0-A72A-055B31094F4C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331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2AC7B-5B14-48E0-A72A-055B31094F4C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688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) 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93F18E20-AE7E-9A88-1735-15020559EF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075A5475-07DE-F714-EB04-70B4854456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B709E8C-A824-7808-4CA0-162B6479A4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51590" y="1226288"/>
            <a:ext cx="9144000" cy="2714845"/>
          </a:xfrm>
        </p:spPr>
        <p:txBody>
          <a:bodyPr anchor="b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C78474F-6132-5E80-C1CC-DC15B926662A}"/>
              </a:ext>
            </a:extLst>
          </p:cNvPr>
          <p:cNvSpPr txBox="1"/>
          <p:nvPr userDrawn="1"/>
        </p:nvSpPr>
        <p:spPr>
          <a:xfrm>
            <a:off x="7299299" y="-928924"/>
            <a:ext cx="4892702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r>
              <a:rPr lang="sv-SE" sz="1200" b="1" dirty="0"/>
              <a:t>Infoga foto:</a:t>
            </a:r>
          </a:p>
          <a:p>
            <a:r>
              <a:rPr lang="sv-SE" sz="1200" b="0" dirty="0"/>
              <a:t>För att komma åt fotosymbolen mitt på sliden, Klicka på den grå ytan,</a:t>
            </a:r>
            <a:br>
              <a:rPr lang="sv-SE" sz="1200" b="0" dirty="0"/>
            </a:br>
            <a:r>
              <a:rPr lang="sv-SE" sz="1200" b="0" dirty="0"/>
              <a:t>placera längst fram, klicka på fotosymbolen och infoga önskat foto.</a:t>
            </a:r>
            <a:br>
              <a:rPr lang="sv-SE" sz="1200" b="0" dirty="0"/>
            </a:br>
            <a:r>
              <a:rPr lang="sv-SE" sz="1200" b="0" dirty="0"/>
              <a:t>Placera sedan fotot längst bak, så att rubriken och logon syns.</a:t>
            </a:r>
          </a:p>
        </p:txBody>
      </p:sp>
    </p:spTree>
    <p:extLst>
      <p:ext uri="{BB962C8B-B14F-4D97-AF65-F5344CB8AC3E}">
        <p14:creationId xmlns:p14="http://schemas.microsoft.com/office/powerpoint/2010/main" val="4177173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7331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7470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12">
            <a:extLst>
              <a:ext uri="{FF2B5EF4-FFF2-40B4-BE49-F238E27FC236}">
                <a16:creationId xmlns:a16="http://schemas.microsoft.com/office/drawing/2014/main" id="{029BCDBB-6BEA-24E5-8E6E-C064247DC8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70" y="3099215"/>
            <a:ext cx="4616394" cy="26593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85962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27719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2620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12">
            <a:extLst>
              <a:ext uri="{FF2B5EF4-FFF2-40B4-BE49-F238E27FC236}">
                <a16:creationId xmlns:a16="http://schemas.microsoft.com/office/drawing/2014/main" id="{029BCDBB-6BEA-24E5-8E6E-C064247DC8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02620" y="3099215"/>
            <a:ext cx="4616394" cy="230463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1496063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) Rubrik &amp; 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82182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19329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) Rubrik &amp;  2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27696F8E-1216-3F8C-4B28-381AD5BE75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46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106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) Rubrik &amp;  2 fot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tshållare för bild 10">
            <a:extLst>
              <a:ext uri="{FF2B5EF4-FFF2-40B4-BE49-F238E27FC236}">
                <a16:creationId xmlns:a16="http://schemas.microsoft.com/office/drawing/2014/main" id="{EA4B852A-1BFC-3FC8-43FC-5E3FE099B01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1759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8" name="Platshållare för bild 10">
            <a:extLst>
              <a:ext uri="{FF2B5EF4-FFF2-40B4-BE49-F238E27FC236}">
                <a16:creationId xmlns:a16="http://schemas.microsoft.com/office/drawing/2014/main" id="{E7F2668B-F6F6-AD69-1293-FB6A4043EA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7471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02973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) 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A9589E-E17D-9B28-443A-4B8C9D78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A6E388C-A776-920E-5062-4B318E69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D7959DB-8F08-D41E-70C6-8E6D0B20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9076B3E-5631-9900-7301-13CA5BCB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76905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) 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BEF7A420-D4F7-F41D-5224-1AA257B1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3674CD0-70C0-AA0E-D5DF-71582E7F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D2E618F-9617-04AB-5AF5-8CBEBA07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4217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) 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93F18E20-AE7E-9A88-1735-15020559EF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075A5475-07DE-F714-EB04-70B4854456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B709E8C-A824-7808-4CA0-162B6479A4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51590" y="1226288"/>
            <a:ext cx="9144000" cy="2714845"/>
          </a:xfrm>
        </p:spPr>
        <p:txBody>
          <a:bodyPr anchor="b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C78474F-6132-5E80-C1CC-DC15B926662A}"/>
              </a:ext>
            </a:extLst>
          </p:cNvPr>
          <p:cNvSpPr txBox="1"/>
          <p:nvPr userDrawn="1"/>
        </p:nvSpPr>
        <p:spPr>
          <a:xfrm>
            <a:off x="7299299" y="-928924"/>
            <a:ext cx="4892702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r>
              <a:rPr lang="sv-SE" sz="1200" b="1" dirty="0"/>
              <a:t>Infoga foto:</a:t>
            </a:r>
          </a:p>
          <a:p>
            <a:r>
              <a:rPr lang="sv-SE" sz="1200" b="0" dirty="0"/>
              <a:t>För att komma åt fotosymbolen mitt på sliden, Klicka på den grå ytan,</a:t>
            </a:r>
            <a:br>
              <a:rPr lang="sv-SE" sz="1200" b="0" dirty="0"/>
            </a:br>
            <a:r>
              <a:rPr lang="sv-SE" sz="1200" b="0" dirty="0"/>
              <a:t>placera längst fram, klicka på fotosymbolen och infoga önskat foto.</a:t>
            </a:r>
            <a:br>
              <a:rPr lang="sv-SE" sz="1200" b="0" dirty="0"/>
            </a:br>
            <a:r>
              <a:rPr lang="sv-SE" sz="1200" b="0" dirty="0"/>
              <a:t>Placera sedan fotot längst bak, så att rubriken och logon syns.</a:t>
            </a:r>
          </a:p>
        </p:txBody>
      </p:sp>
    </p:spTree>
    <p:extLst>
      <p:ext uri="{BB962C8B-B14F-4D97-AF65-F5344CB8AC3E}">
        <p14:creationId xmlns:p14="http://schemas.microsoft.com/office/powerpoint/2010/main" val="3559935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7331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7470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12">
            <a:extLst>
              <a:ext uri="{FF2B5EF4-FFF2-40B4-BE49-F238E27FC236}">
                <a16:creationId xmlns:a16="http://schemas.microsoft.com/office/drawing/2014/main" id="{029BCDBB-6BEA-24E5-8E6E-C064247DC8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70" y="3099215"/>
            <a:ext cx="4616394" cy="26593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1510439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27719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9085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085" y="3099215"/>
            <a:ext cx="4616394" cy="230463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1049400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) Rubrik &amp; 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82182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19476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) Rubrik &amp;  2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27696F8E-1216-3F8C-4B28-381AD5BE75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46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2592709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) Rubrik &amp;  2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bild 10">
            <a:extLst>
              <a:ext uri="{FF2B5EF4-FFF2-40B4-BE49-F238E27FC236}">
                <a16:creationId xmlns:a16="http://schemas.microsoft.com/office/drawing/2014/main" id="{9448F454-0F64-E8EF-5C21-F8BF719157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1759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9" name="Platshållare för bild 10">
            <a:extLst>
              <a:ext uri="{FF2B5EF4-FFF2-40B4-BE49-F238E27FC236}">
                <a16:creationId xmlns:a16="http://schemas.microsoft.com/office/drawing/2014/main" id="{29BE4B93-EFFF-5A87-8107-9888BAD10D9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7471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</p:spTree>
    <p:extLst>
      <p:ext uri="{BB962C8B-B14F-4D97-AF65-F5344CB8AC3E}">
        <p14:creationId xmlns:p14="http://schemas.microsoft.com/office/powerpoint/2010/main" val="4109068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) 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A9589E-E17D-9B28-443A-4B8C9D78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A6E388C-A776-920E-5062-4B318E69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D7959DB-8F08-D41E-70C6-8E6D0B20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9076B3E-5631-9900-7301-13CA5BCB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7472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) 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BEF7A420-D4F7-F41D-5224-1AA257B1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3674CD0-70C0-AA0E-D5DF-71582E7F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D2E618F-9617-04AB-5AF5-8CBEBA07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52067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) 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93F18E20-AE7E-9A88-1735-15020559EF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075A5475-07DE-F714-EB04-70B4854456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B709E8C-A824-7808-4CA0-162B6479A4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51590" y="1226288"/>
            <a:ext cx="9144000" cy="2714845"/>
          </a:xfrm>
        </p:spPr>
        <p:txBody>
          <a:bodyPr anchor="b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C78474F-6132-5E80-C1CC-DC15B926662A}"/>
              </a:ext>
            </a:extLst>
          </p:cNvPr>
          <p:cNvSpPr txBox="1"/>
          <p:nvPr userDrawn="1"/>
        </p:nvSpPr>
        <p:spPr>
          <a:xfrm>
            <a:off x="7299299" y="-928924"/>
            <a:ext cx="4892702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r>
              <a:rPr lang="sv-SE" sz="1200" b="1" dirty="0"/>
              <a:t>Infoga foto:</a:t>
            </a:r>
          </a:p>
          <a:p>
            <a:r>
              <a:rPr lang="sv-SE" sz="1200" b="0" dirty="0"/>
              <a:t>För att komma åt fotosymbolen mitt på sliden, Klicka på den grå ytan,</a:t>
            </a:r>
            <a:br>
              <a:rPr lang="sv-SE" sz="1200" b="0" dirty="0"/>
            </a:br>
            <a:r>
              <a:rPr lang="sv-SE" sz="1200" b="0" dirty="0"/>
              <a:t>placera längst fram, klicka på fotosymbolen och infoga önskat foto.</a:t>
            </a:r>
            <a:br>
              <a:rPr lang="sv-SE" sz="1200" b="0" dirty="0"/>
            </a:br>
            <a:r>
              <a:rPr lang="sv-SE" sz="1200" b="0" dirty="0"/>
              <a:t>Placera sedan fotot längst bak, så att rubriken och logon syns.</a:t>
            </a:r>
          </a:p>
        </p:txBody>
      </p:sp>
    </p:spTree>
    <p:extLst>
      <p:ext uri="{BB962C8B-B14F-4D97-AF65-F5344CB8AC3E}">
        <p14:creationId xmlns:p14="http://schemas.microsoft.com/office/powerpoint/2010/main" val="3807649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7331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7470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12">
            <a:extLst>
              <a:ext uri="{FF2B5EF4-FFF2-40B4-BE49-F238E27FC236}">
                <a16:creationId xmlns:a16="http://schemas.microsoft.com/office/drawing/2014/main" id="{029BCDBB-6BEA-24E5-8E6E-C064247DC8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70" y="3099215"/>
            <a:ext cx="4616394" cy="26593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40147209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27719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9085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085" y="3099215"/>
            <a:ext cx="4616394" cy="230463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41762981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) Rubrik &amp; 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82182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0292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) Rubrik &amp;  2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27696F8E-1216-3F8C-4B28-381AD5BE75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46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23724406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) Rubrik &amp;  2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bild 10">
            <a:extLst>
              <a:ext uri="{FF2B5EF4-FFF2-40B4-BE49-F238E27FC236}">
                <a16:creationId xmlns:a16="http://schemas.microsoft.com/office/drawing/2014/main" id="{2660B481-AE26-6050-A110-A5A11EDBB07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1759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9" name="Platshållare för bild 10">
            <a:extLst>
              <a:ext uri="{FF2B5EF4-FFF2-40B4-BE49-F238E27FC236}">
                <a16:creationId xmlns:a16="http://schemas.microsoft.com/office/drawing/2014/main" id="{84B4EC6E-FB05-7063-6EC6-6638431518B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7471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</p:spTree>
    <p:extLst>
      <p:ext uri="{BB962C8B-B14F-4D97-AF65-F5344CB8AC3E}">
        <p14:creationId xmlns:p14="http://schemas.microsoft.com/office/powerpoint/2010/main" val="23247129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) 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A9589E-E17D-9B28-443A-4B8C9D78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A6E388C-A776-920E-5062-4B318E69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D7959DB-8F08-D41E-70C6-8E6D0B20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9076B3E-5631-9900-7301-13CA5BCB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51564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) 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BEF7A420-D4F7-F41D-5224-1AA257B1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3674CD0-70C0-AA0E-D5DF-71582E7F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D2E618F-9617-04AB-5AF5-8CBEBA07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01698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) 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93F18E20-AE7E-9A88-1735-15020559EF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075A5475-07DE-F714-EB04-70B4854456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B709E8C-A824-7808-4CA0-162B6479A4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51590" y="1226288"/>
            <a:ext cx="9144000" cy="2714845"/>
          </a:xfrm>
        </p:spPr>
        <p:txBody>
          <a:bodyPr anchor="b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C78474F-6132-5E80-C1CC-DC15B926662A}"/>
              </a:ext>
            </a:extLst>
          </p:cNvPr>
          <p:cNvSpPr txBox="1"/>
          <p:nvPr userDrawn="1"/>
        </p:nvSpPr>
        <p:spPr>
          <a:xfrm>
            <a:off x="7299299" y="-928924"/>
            <a:ext cx="4892702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r>
              <a:rPr lang="sv-SE" sz="1200" b="1" dirty="0"/>
              <a:t>Infoga foto:</a:t>
            </a:r>
          </a:p>
          <a:p>
            <a:r>
              <a:rPr lang="sv-SE" sz="1200" b="0" dirty="0"/>
              <a:t>För att komma åt fotosymbolen mitt på sliden, Klicka på den grå ytan,</a:t>
            </a:r>
            <a:br>
              <a:rPr lang="sv-SE" sz="1200" b="0" dirty="0"/>
            </a:br>
            <a:r>
              <a:rPr lang="sv-SE" sz="1200" b="0" dirty="0"/>
              <a:t>placera längst fram, klicka på fotosymbolen och infoga önskat foto.</a:t>
            </a:r>
            <a:br>
              <a:rPr lang="sv-SE" sz="1200" b="0" dirty="0"/>
            </a:br>
            <a:r>
              <a:rPr lang="sv-SE" sz="1200" b="0" dirty="0"/>
              <a:t>Placera sedan fotot längst bak, så att rubriken och logon syns.</a:t>
            </a:r>
          </a:p>
        </p:txBody>
      </p:sp>
    </p:spTree>
    <p:extLst>
      <p:ext uri="{BB962C8B-B14F-4D97-AF65-F5344CB8AC3E}">
        <p14:creationId xmlns:p14="http://schemas.microsoft.com/office/powerpoint/2010/main" val="3792623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7331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7470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12">
            <a:extLst>
              <a:ext uri="{FF2B5EF4-FFF2-40B4-BE49-F238E27FC236}">
                <a16:creationId xmlns:a16="http://schemas.microsoft.com/office/drawing/2014/main" id="{029BCDBB-6BEA-24E5-8E6E-C064247DC8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70" y="3099215"/>
            <a:ext cx="4616394" cy="26593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1605110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27719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9085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085" y="3099215"/>
            <a:ext cx="4616394" cy="230463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6047039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) Rubrik &amp; 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82182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896868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) Rubrik &amp;  2 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27696F8E-1216-3F8C-4B28-381AD5BE75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46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19697687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) Rubrik &amp;  2 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bild 10">
            <a:extLst>
              <a:ext uri="{FF2B5EF4-FFF2-40B4-BE49-F238E27FC236}">
                <a16:creationId xmlns:a16="http://schemas.microsoft.com/office/drawing/2014/main" id="{01BF737E-6098-74F5-2151-764F0356F93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1759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9" name="Platshållare för bild 10">
            <a:extLst>
              <a:ext uri="{FF2B5EF4-FFF2-40B4-BE49-F238E27FC236}">
                <a16:creationId xmlns:a16="http://schemas.microsoft.com/office/drawing/2014/main" id="{2BFE4D5B-200D-6CDC-C26E-9AF38205BF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7471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</p:spTree>
    <p:extLst>
      <p:ext uri="{BB962C8B-B14F-4D97-AF65-F5344CB8AC3E}">
        <p14:creationId xmlns:p14="http://schemas.microsoft.com/office/powerpoint/2010/main" val="2361913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) 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A9589E-E17D-9B28-443A-4B8C9D78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A6E388C-A776-920E-5062-4B318E69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D7959DB-8F08-D41E-70C6-8E6D0B20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9076B3E-5631-9900-7301-13CA5BCB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2048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) 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BEF7A420-D4F7-F41D-5224-1AA257B1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3674CD0-70C0-AA0E-D5DF-71582E7F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D2E618F-9617-04AB-5AF5-8CBEBA07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204356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) 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93F18E20-AE7E-9A88-1735-15020559EF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075A5475-07DE-F714-EB04-70B4854456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B709E8C-A824-7808-4CA0-162B6479A4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51590" y="1226288"/>
            <a:ext cx="9144000" cy="2714845"/>
          </a:xfrm>
        </p:spPr>
        <p:txBody>
          <a:bodyPr anchor="b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C78474F-6132-5E80-C1CC-DC15B926662A}"/>
              </a:ext>
            </a:extLst>
          </p:cNvPr>
          <p:cNvSpPr txBox="1"/>
          <p:nvPr userDrawn="1"/>
        </p:nvSpPr>
        <p:spPr>
          <a:xfrm>
            <a:off x="7299299" y="-928924"/>
            <a:ext cx="4892702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r>
              <a:rPr lang="sv-SE" sz="1200" b="1" dirty="0"/>
              <a:t>Infoga foto:</a:t>
            </a:r>
          </a:p>
          <a:p>
            <a:r>
              <a:rPr lang="sv-SE" sz="1200" b="0" dirty="0"/>
              <a:t>För att komma åt fotosymbolen mitt på sliden, Klicka på den grå ytan,</a:t>
            </a:r>
            <a:br>
              <a:rPr lang="sv-SE" sz="1200" b="0" dirty="0"/>
            </a:br>
            <a:r>
              <a:rPr lang="sv-SE" sz="1200" b="0" dirty="0"/>
              <a:t>placera längst fram, klicka på fotosymbolen och infoga önskat foto.</a:t>
            </a:r>
            <a:br>
              <a:rPr lang="sv-SE" sz="1200" b="0" dirty="0"/>
            </a:br>
            <a:r>
              <a:rPr lang="sv-SE" sz="1200" b="0" dirty="0"/>
              <a:t>Placera sedan fotot längst bak, så att rubriken och logon syns.</a:t>
            </a:r>
          </a:p>
        </p:txBody>
      </p:sp>
    </p:spTree>
    <p:extLst>
      <p:ext uri="{BB962C8B-B14F-4D97-AF65-F5344CB8AC3E}">
        <p14:creationId xmlns:p14="http://schemas.microsoft.com/office/powerpoint/2010/main" val="980112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7331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7470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12">
            <a:extLst>
              <a:ext uri="{FF2B5EF4-FFF2-40B4-BE49-F238E27FC236}">
                <a16:creationId xmlns:a16="http://schemas.microsoft.com/office/drawing/2014/main" id="{029BCDBB-6BEA-24E5-8E6E-C064247DC8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70" y="3099215"/>
            <a:ext cx="4616394" cy="26593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838012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27719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9085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085" y="3099215"/>
            <a:ext cx="4616394" cy="230463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6540092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) Rubrik &amp; 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82182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3765723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) Rubrik &amp;  2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27696F8E-1216-3F8C-4B28-381AD5BE75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46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22261208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) Rubrik &amp;  2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bild 10">
            <a:extLst>
              <a:ext uri="{FF2B5EF4-FFF2-40B4-BE49-F238E27FC236}">
                <a16:creationId xmlns:a16="http://schemas.microsoft.com/office/drawing/2014/main" id="{4CFCDC6D-A42E-9679-7460-2AD9A6DC45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1759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9" name="Platshållare för bild 10">
            <a:extLst>
              <a:ext uri="{FF2B5EF4-FFF2-40B4-BE49-F238E27FC236}">
                <a16:creationId xmlns:a16="http://schemas.microsoft.com/office/drawing/2014/main" id="{D9A7C8BD-F3C7-BCE4-57BD-9B8198222F3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7471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</p:spTree>
    <p:extLst>
      <p:ext uri="{BB962C8B-B14F-4D97-AF65-F5344CB8AC3E}">
        <p14:creationId xmlns:p14="http://schemas.microsoft.com/office/powerpoint/2010/main" val="31851495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) 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A9589E-E17D-9B28-443A-4B8C9D78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A6E388C-A776-920E-5062-4B318E69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D7959DB-8F08-D41E-70C6-8E6D0B20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9076B3E-5631-9900-7301-13CA5BCB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7602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) 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BEF7A420-D4F7-F41D-5224-1AA257B1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2026-09-11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3674CD0-70C0-AA0E-D5DF-71582E7F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D2E618F-9617-04AB-5AF5-8CBEBA07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75962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10" Type="http://schemas.openxmlformats.org/officeDocument/2006/relationships/image" Target="../media/image9.png"/><Relationship Id="rId4" Type="http://schemas.openxmlformats.org/officeDocument/2006/relationships/slideLayout" Target="../slideLayouts/slideLayout36.xml"/><Relationship Id="rId9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D31F9A2-8970-5CAE-D232-941C4F57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136525"/>
            <a:ext cx="8218280" cy="187721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BC06FE6-E88A-4C77-0F5B-D6187723A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470" y="2274073"/>
            <a:ext cx="8218280" cy="3148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EF6A9A5-12A0-65D1-A8DD-EC4FBE0BA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8968" y="6485860"/>
            <a:ext cx="1049079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fld id="{D8D49A41-4903-4E30-BEC5-3ED4B3E2B810}" type="datetimeFigureOut">
              <a:rPr lang="sv-SE" smtClean="0"/>
              <a:pPr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AB0087C-DC09-3344-5A40-164B3EB7D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31334" y="6485860"/>
            <a:ext cx="4114800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A879AC1-A788-C76F-EC69-7B765BAE1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67" y="6485860"/>
            <a:ext cx="412897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fld id="{F7A0C37E-2574-41CD-9AC4-6A32AFFF0F69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12" name="Bildobjekt 11" descr="En bild som visar text, Teckensnitt, skärmbild, logotyp&#10;&#10;Automatiskt genererad beskrivning">
            <a:extLst>
              <a:ext uri="{FF2B5EF4-FFF2-40B4-BE49-F238E27FC236}">
                <a16:creationId xmlns:a16="http://schemas.microsoft.com/office/drawing/2014/main" id="{90761BF3-02F8-1628-4B25-C0A85B2632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8"/>
          <a:stretch/>
        </p:blipFill>
        <p:spPr>
          <a:xfrm>
            <a:off x="9358967" y="5758595"/>
            <a:ext cx="2833033" cy="94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628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0" r:id="rId4"/>
    <p:sldLayoutId id="2147483661" r:id="rId5"/>
    <p:sldLayoutId id="2147483702" r:id="rId6"/>
    <p:sldLayoutId id="2147483654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500063" indent="-223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763588" indent="-2365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019175" indent="-2301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1236663" indent="-1905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D31F9A2-8970-5CAE-D232-941C4F57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136525"/>
            <a:ext cx="8218280" cy="187721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BC06FE6-E88A-4C77-0F5B-D6187723A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470" y="2274073"/>
            <a:ext cx="8218280" cy="3148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EF6A9A5-12A0-65D1-A8DD-EC4FBE0BA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8968" y="6485860"/>
            <a:ext cx="1049079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fld id="{D8D49A41-4903-4E30-BEC5-3ED4B3E2B810}" type="datetimeFigureOut">
              <a:rPr lang="sv-SE" smtClean="0"/>
              <a:pPr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AB0087C-DC09-3344-5A40-164B3EB7D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31334" y="6485860"/>
            <a:ext cx="4114800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A879AC1-A788-C76F-EC69-7B765BAE1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67" y="6485860"/>
            <a:ext cx="412897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fld id="{F7A0C37E-2574-41CD-9AC4-6A32AFFF0F69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9" name="Bildobjekt 8" descr="En bild som visar text, Teckensnitt, skärmbild, Grafik&#10;&#10;Automatiskt genererad beskrivning">
            <a:extLst>
              <a:ext uri="{FF2B5EF4-FFF2-40B4-BE49-F238E27FC236}">
                <a16:creationId xmlns:a16="http://schemas.microsoft.com/office/drawing/2014/main" id="{3BBDF191-2CAE-0F32-DED7-36228AB644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0"/>
          <a:stretch/>
        </p:blipFill>
        <p:spPr>
          <a:xfrm>
            <a:off x="9358967" y="5758595"/>
            <a:ext cx="2833033" cy="9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7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703" r:id="rId6"/>
    <p:sldLayoutId id="2147483668" r:id="rId7"/>
    <p:sldLayoutId id="214748366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500063" indent="-223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763588" indent="-2365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019175" indent="-2301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1236663" indent="-1905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 descr="En bild som visar text, Teckensnitt, grön, skärmbild&#10;&#10;Automatiskt genererad beskrivning">
            <a:extLst>
              <a:ext uri="{FF2B5EF4-FFF2-40B4-BE49-F238E27FC236}">
                <a16:creationId xmlns:a16="http://schemas.microsoft.com/office/drawing/2014/main" id="{C2F3D3FE-E932-AF53-C3E2-EC329397C6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0"/>
          <a:stretch/>
        </p:blipFill>
        <p:spPr>
          <a:xfrm>
            <a:off x="9358967" y="5758595"/>
            <a:ext cx="2833033" cy="943200"/>
          </a:xfrm>
          <a:prstGeom prst="rect">
            <a:avLst/>
          </a:prstGeom>
        </p:spPr>
      </p:pic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D31F9A2-8970-5CAE-D232-941C4F57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136525"/>
            <a:ext cx="8218280" cy="187721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BC06FE6-E88A-4C77-0F5B-D6187723A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470" y="2274073"/>
            <a:ext cx="8218280" cy="3148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EF6A9A5-12A0-65D1-A8DD-EC4FBE0BA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8968" y="6485860"/>
            <a:ext cx="1049079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fld id="{D8D49A41-4903-4E30-BEC5-3ED4B3E2B810}" type="datetimeFigureOut">
              <a:rPr lang="sv-SE" smtClean="0"/>
              <a:pPr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AB0087C-DC09-3344-5A40-164B3EB7D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31334" y="6485860"/>
            <a:ext cx="4114800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A879AC1-A788-C76F-EC69-7B765BAE1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67" y="6485860"/>
            <a:ext cx="412897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fld id="{F7A0C37E-2574-41CD-9AC4-6A32AFFF0F69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71477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704" r:id="rId6"/>
    <p:sldLayoutId id="2147483676" r:id="rId7"/>
    <p:sldLayoutId id="214748367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500063" indent="-223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763588" indent="-2365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019175" indent="-2301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1236663" indent="-1905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 descr="En bild som visar text, Teckensnitt, skärmbild, logotyp&#10;&#10;Automatiskt genererad beskrivning">
            <a:extLst>
              <a:ext uri="{FF2B5EF4-FFF2-40B4-BE49-F238E27FC236}">
                <a16:creationId xmlns:a16="http://schemas.microsoft.com/office/drawing/2014/main" id="{DCCDAAA0-D1D1-8B2E-D867-BB9619D7A4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0"/>
          <a:stretch/>
        </p:blipFill>
        <p:spPr>
          <a:xfrm>
            <a:off x="9358969" y="5758595"/>
            <a:ext cx="2833031" cy="943200"/>
          </a:xfrm>
          <a:prstGeom prst="rect">
            <a:avLst/>
          </a:prstGeom>
        </p:spPr>
      </p:pic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D31F9A2-8970-5CAE-D232-941C4F57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136525"/>
            <a:ext cx="8218280" cy="187721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BC06FE6-E88A-4C77-0F5B-D6187723A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470" y="2274073"/>
            <a:ext cx="8218280" cy="3148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EF6A9A5-12A0-65D1-A8DD-EC4FBE0BA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8968" y="6485860"/>
            <a:ext cx="1049079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fld id="{D8D49A41-4903-4E30-BEC5-3ED4B3E2B810}" type="datetimeFigureOut">
              <a:rPr lang="sv-SE" smtClean="0"/>
              <a:pPr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AB0087C-DC09-3344-5A40-164B3EB7D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31334" y="6485860"/>
            <a:ext cx="4114800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A879AC1-A788-C76F-EC69-7B765BAE1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67" y="6485860"/>
            <a:ext cx="412897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fld id="{F7A0C37E-2574-41CD-9AC4-6A32AFFF0F69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709156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705" r:id="rId6"/>
    <p:sldLayoutId id="2147483692" r:id="rId7"/>
    <p:sldLayoutId id="2147483693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500063" indent="-223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763588" indent="-2365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019175" indent="-2301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1236663" indent="-1905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objekt 8" descr="En bild som visar text, Teckensnitt, skärmbild, Grafik&#10;&#10;Automatiskt genererad beskrivning">
            <a:extLst>
              <a:ext uri="{FF2B5EF4-FFF2-40B4-BE49-F238E27FC236}">
                <a16:creationId xmlns:a16="http://schemas.microsoft.com/office/drawing/2014/main" id="{4FF6F6C1-1B5D-311A-5902-2B05E2BF16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0"/>
          <a:stretch/>
        </p:blipFill>
        <p:spPr>
          <a:xfrm>
            <a:off x="9358969" y="5758595"/>
            <a:ext cx="2833031" cy="943200"/>
          </a:xfrm>
          <a:prstGeom prst="rect">
            <a:avLst/>
          </a:prstGeom>
        </p:spPr>
      </p:pic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D31F9A2-8970-5CAE-D232-941C4F57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136525"/>
            <a:ext cx="8218280" cy="187721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BC06FE6-E88A-4C77-0F5B-D6187723A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470" y="2274073"/>
            <a:ext cx="8218280" cy="3148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EF6A9A5-12A0-65D1-A8DD-EC4FBE0BA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8968" y="6485860"/>
            <a:ext cx="1049079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fld id="{D8D49A41-4903-4E30-BEC5-3ED4B3E2B810}" type="datetimeFigureOut">
              <a:rPr lang="sv-SE" smtClean="0"/>
              <a:pPr/>
              <a:t>2026-09-11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AB0087C-DC09-3344-5A40-164B3EB7D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31334" y="6485860"/>
            <a:ext cx="4114800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A879AC1-A788-C76F-EC69-7B765BAE1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67" y="6485860"/>
            <a:ext cx="412897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fld id="{F7A0C37E-2574-41CD-9AC4-6A32AFFF0F69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10299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6" r:id="rId6"/>
    <p:sldLayoutId id="2147483700" r:id="rId7"/>
    <p:sldLayoutId id="214748370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500063" indent="-223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763588" indent="-2365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019175" indent="-2301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1236663" indent="-1905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abs.iximiuz.com/playgrounds" TargetMode="External"/><Relationship Id="rId2" Type="http://schemas.openxmlformats.org/officeDocument/2006/relationships/hyperlink" Target="https://github.com/Kristianstad/origo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kartor.kristianstad.se/qgisserver-shared/ow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 descr="Glöm inte lägga till text">
            <a:extLst>
              <a:ext uri="{FF2B5EF4-FFF2-40B4-BE49-F238E27FC236}">
                <a16:creationId xmlns:a16="http://schemas.microsoft.com/office/drawing/2014/main" id="{A8F7D11D-AEB1-A8B4-FFD1-91A74A415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9726" y="0"/>
            <a:ext cx="12192000" cy="6858000"/>
          </a:xfrm>
        </p:spPr>
        <p:txBody>
          <a:bodyPr/>
          <a:lstStyle/>
          <a:p>
            <a:endParaRPr lang="sv-SE" dirty="0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2D13E8C1-DCDA-52B5-C495-7AB6F458C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8466" y="1226288"/>
            <a:ext cx="10655069" cy="2714845"/>
          </a:xfrm>
        </p:spPr>
        <p:txBody>
          <a:bodyPr/>
          <a:lstStyle/>
          <a:p>
            <a:r>
              <a:rPr lang="sv-SE" sz="6600" dirty="0"/>
              <a:t>Administrationsgränssnitt</a:t>
            </a:r>
            <a:br>
              <a:rPr lang="sv-SE" sz="7200" dirty="0"/>
            </a:br>
            <a:endParaRPr lang="sv-SE" sz="7200" dirty="0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8DEF0F0D-E454-D741-615A-00130A7E7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sv-SE" dirty="0"/>
          </a:p>
        </p:txBody>
      </p:sp>
      <p:pic>
        <p:nvPicPr>
          <p:cNvPr id="3" name="Platshållare för innehåll 27">
            <a:extLst>
              <a:ext uri="{FF2B5EF4-FFF2-40B4-BE49-F238E27FC236}">
                <a16:creationId xmlns:a16="http://schemas.microsoft.com/office/drawing/2014/main" id="{673348B3-7738-FC40-F904-F2BDD7105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55" y="3033629"/>
            <a:ext cx="2738620" cy="107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218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15AA404-209F-B73D-79EB-660B51A78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136525"/>
            <a:ext cx="8218280" cy="1513371"/>
          </a:xfrm>
        </p:spPr>
        <p:txBody>
          <a:bodyPr/>
          <a:lstStyle/>
          <a:p>
            <a:r>
              <a:rPr lang="sv-SE"/>
              <a:t>Origo som container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3058670-0FF1-31A1-A498-7682E9886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1899138"/>
            <a:ext cx="8218280" cy="2318902"/>
          </a:xfrm>
        </p:spPr>
        <p:txBody>
          <a:bodyPr>
            <a:normAutofit/>
          </a:bodyPr>
          <a:lstStyle/>
          <a:p>
            <a:r>
              <a:rPr lang="sv-SE" sz="2400" dirty="0" err="1"/>
              <a:t>Dockeravbild</a:t>
            </a:r>
            <a:r>
              <a:rPr lang="sv-SE" sz="2400" dirty="0"/>
              <a:t>:</a:t>
            </a:r>
            <a:br>
              <a:rPr lang="sv-SE" sz="2400" dirty="0"/>
            </a:br>
            <a:r>
              <a:rPr lang="sv-SE" sz="2400" dirty="0">
                <a:hlinkClick r:id="rId2"/>
              </a:rPr>
              <a:t>https://github.com/Kristianstad/origo</a:t>
            </a:r>
            <a:endParaRPr lang="sv-SE" sz="2400" dirty="0"/>
          </a:p>
          <a:p>
            <a:r>
              <a:rPr lang="sv-SE" sz="2400" dirty="0" err="1"/>
              <a:t>Iximiuz</a:t>
            </a:r>
            <a:r>
              <a:rPr lang="sv-SE" sz="2400" dirty="0"/>
              <a:t> </a:t>
            </a:r>
            <a:r>
              <a:rPr lang="sv-SE" sz="2400" dirty="0" err="1"/>
              <a:t>Labs</a:t>
            </a:r>
            <a:r>
              <a:rPr lang="sv-SE" sz="2400" dirty="0"/>
              <a:t>:</a:t>
            </a:r>
            <a:br>
              <a:rPr lang="sv-SE" sz="2400" dirty="0"/>
            </a:br>
            <a:r>
              <a:rPr lang="sv-SE" sz="2400" dirty="0">
                <a:hlinkClick r:id="rId3"/>
              </a:rPr>
              <a:t>https://labs.iximiuz.com/playgrounds</a:t>
            </a:r>
            <a:endParaRPr lang="sv-SE" sz="2400" dirty="0"/>
          </a:p>
          <a:p>
            <a:pPr marL="0" indent="0">
              <a:buNone/>
            </a:pPr>
            <a:endParaRPr lang="sv-SE" sz="2800" dirty="0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CF0F2F2D-72FC-70A0-3BE4-24D2278435E6}"/>
              </a:ext>
            </a:extLst>
          </p:cNvPr>
          <p:cNvSpPr txBox="1"/>
          <p:nvPr/>
        </p:nvSpPr>
        <p:spPr>
          <a:xfrm>
            <a:off x="1170485" y="3982064"/>
            <a:ext cx="7399950" cy="2246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v-SE" sz="2000" dirty="0"/>
              <a:t>Starta en </a:t>
            </a:r>
            <a:r>
              <a:rPr lang="sv-SE" sz="2000" dirty="0" err="1"/>
              <a:t>Docker</a:t>
            </a:r>
            <a:r>
              <a:rPr lang="sv-SE" sz="2000" dirty="0"/>
              <a:t> </a:t>
            </a:r>
            <a:r>
              <a:rPr lang="sv-SE" sz="2000" dirty="0" err="1"/>
              <a:t>playground</a:t>
            </a:r>
            <a:endParaRPr lang="sv-SE" sz="2000" dirty="0"/>
          </a:p>
          <a:p>
            <a:pPr marL="342900" indent="-342900">
              <a:buFont typeface="+mj-lt"/>
              <a:buAutoNum type="arabicPeriod"/>
            </a:pPr>
            <a:r>
              <a:rPr lang="sv-SE" sz="2000" dirty="0"/>
              <a:t>Kör följande kommando:</a:t>
            </a:r>
            <a:br>
              <a:rPr lang="sv-SE" sz="2000" dirty="0"/>
            </a:br>
            <a:r>
              <a:rPr lang="sv-SE" sz="2000" dirty="0" err="1"/>
              <a:t>docker</a:t>
            </a:r>
            <a:r>
              <a:rPr lang="sv-SE" sz="2000" dirty="0"/>
              <a:t> </a:t>
            </a:r>
            <a:r>
              <a:rPr lang="sv-SE" sz="2000" dirty="0" err="1"/>
              <a:t>run</a:t>
            </a:r>
            <a:r>
              <a:rPr lang="sv-SE" sz="2000"/>
              <a:t> -p </a:t>
            </a:r>
            <a:r>
              <a:rPr lang="sv-SE" sz="2000" dirty="0"/>
              <a:t>8080:8080 ghcr.io/</a:t>
            </a:r>
            <a:r>
              <a:rPr lang="sv-SE" sz="2000" dirty="0" err="1"/>
              <a:t>kristianstad</a:t>
            </a:r>
            <a:r>
              <a:rPr lang="sv-SE" sz="2000" dirty="0"/>
              <a:t>/origo:2.10.0-adm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2000" dirty="0"/>
              <a:t>Klicka på       , exponera port 8080 public och klicka på länken.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2000" dirty="0"/>
              <a:t>För att komma till </a:t>
            </a:r>
            <a:r>
              <a:rPr lang="sv-SE" sz="2000" dirty="0" err="1"/>
              <a:t>adminverktyget</a:t>
            </a:r>
            <a:r>
              <a:rPr lang="sv-SE" sz="2000" dirty="0"/>
              <a:t>:</a:t>
            </a:r>
            <a:br>
              <a:rPr lang="sv-SE" sz="2000" dirty="0"/>
            </a:br>
            <a:r>
              <a:rPr lang="sv-SE" sz="2000" dirty="0"/>
              <a:t>Lägg till /</a:t>
            </a:r>
            <a:r>
              <a:rPr lang="sv-SE" sz="2000" dirty="0" err="1"/>
              <a:t>adm</a:t>
            </a:r>
            <a:r>
              <a:rPr lang="sv-SE" sz="2000" dirty="0"/>
              <a:t>/ till adressen i webbläsaren och ladda om sidan.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2000" dirty="0"/>
              <a:t>Logga in med origo, origo.</a:t>
            </a:r>
          </a:p>
        </p:txBody>
      </p:sp>
      <p:pic>
        <p:nvPicPr>
          <p:cNvPr id="1026" name="Picture 2" descr="Docker">
            <a:extLst>
              <a:ext uri="{FF2B5EF4-FFF2-40B4-BE49-F238E27FC236}">
                <a16:creationId xmlns:a16="http://schemas.microsoft.com/office/drawing/2014/main" id="{3F0864A2-EC6E-AF60-582C-4AC9058465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3" t="16119" r="15593" b="18143"/>
          <a:stretch>
            <a:fillRect/>
          </a:stretch>
        </p:blipFill>
        <p:spPr bwMode="auto">
          <a:xfrm>
            <a:off x="6538451" y="933890"/>
            <a:ext cx="857659" cy="71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70EAD466-B57C-9A31-FC11-BEBC1E441B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1733" y="4956699"/>
            <a:ext cx="276264" cy="266737"/>
          </a:xfrm>
          <a:prstGeom prst="rect">
            <a:avLst/>
          </a:prstGeom>
        </p:spPr>
      </p:pic>
      <p:grpSp>
        <p:nvGrpSpPr>
          <p:cNvPr id="14" name="Grupp 13">
            <a:extLst>
              <a:ext uri="{FF2B5EF4-FFF2-40B4-BE49-F238E27FC236}">
                <a16:creationId xmlns:a16="http://schemas.microsoft.com/office/drawing/2014/main" id="{76B95F01-AC5F-EF4D-F90B-10359600EE85}"/>
              </a:ext>
            </a:extLst>
          </p:cNvPr>
          <p:cNvGrpSpPr/>
          <p:nvPr/>
        </p:nvGrpSpPr>
        <p:grpSpPr>
          <a:xfrm>
            <a:off x="8783450" y="2470944"/>
            <a:ext cx="2898654" cy="3022240"/>
            <a:chOff x="8783450" y="2470944"/>
            <a:chExt cx="2898654" cy="3022240"/>
          </a:xfrm>
        </p:grpSpPr>
        <p:pic>
          <p:nvPicPr>
            <p:cNvPr id="9" name="Bildobjekt 8">
              <a:extLst>
                <a:ext uri="{FF2B5EF4-FFF2-40B4-BE49-F238E27FC236}">
                  <a16:creationId xmlns:a16="http://schemas.microsoft.com/office/drawing/2014/main" id="{B345B066-BF02-727F-C2A2-456BEC59A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83450" y="2470944"/>
              <a:ext cx="2898654" cy="3022240"/>
            </a:xfrm>
            <a:prstGeom prst="rect">
              <a:avLst/>
            </a:prstGeom>
          </p:spPr>
        </p:pic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BDCF1C03-1EE6-E0FB-54A8-5A5F92AD7F40}"/>
                </a:ext>
              </a:extLst>
            </p:cNvPr>
            <p:cNvSpPr/>
            <p:nvPr/>
          </p:nvSpPr>
          <p:spPr>
            <a:xfrm>
              <a:off x="8988337" y="3691857"/>
              <a:ext cx="288979" cy="157317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51772533-6B6B-37C2-6651-2BB8EC3A07AE}"/>
                </a:ext>
              </a:extLst>
            </p:cNvPr>
            <p:cNvSpPr/>
            <p:nvPr/>
          </p:nvSpPr>
          <p:spPr>
            <a:xfrm>
              <a:off x="10174469" y="3691857"/>
              <a:ext cx="288979" cy="157317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2" name="Rektangel 11">
              <a:extLst>
                <a:ext uri="{FF2B5EF4-FFF2-40B4-BE49-F238E27FC236}">
                  <a16:creationId xmlns:a16="http://schemas.microsoft.com/office/drawing/2014/main" id="{188A04F0-CF2D-9A0F-062A-5FD921BF8219}"/>
                </a:ext>
              </a:extLst>
            </p:cNvPr>
            <p:cNvSpPr/>
            <p:nvPr/>
          </p:nvSpPr>
          <p:spPr>
            <a:xfrm>
              <a:off x="10997143" y="3691856"/>
              <a:ext cx="522513" cy="157317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3" name="Rektangel 12">
              <a:extLst>
                <a:ext uri="{FF2B5EF4-FFF2-40B4-BE49-F238E27FC236}">
                  <a16:creationId xmlns:a16="http://schemas.microsoft.com/office/drawing/2014/main" id="{DE19924C-741E-CD9D-7F06-B3F8A09FB2D3}"/>
                </a:ext>
              </a:extLst>
            </p:cNvPr>
            <p:cNvSpPr/>
            <p:nvPr/>
          </p:nvSpPr>
          <p:spPr>
            <a:xfrm>
              <a:off x="9432140" y="5090293"/>
              <a:ext cx="1715728" cy="157317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200153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BA7179A0-83AC-2B6F-645C-843802038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628153"/>
            <a:ext cx="5521988" cy="2075290"/>
          </a:xfrm>
        </p:spPr>
        <p:txBody>
          <a:bodyPr/>
          <a:lstStyle/>
          <a:p>
            <a:r>
              <a:rPr lang="sv-SE" dirty="0"/>
              <a:t>Navigation, vyer och hjälp-verktyg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1F56EEE8-896D-037D-D4E3-3417F6B3E6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3099215"/>
            <a:ext cx="9887511" cy="2659351"/>
          </a:xfrm>
        </p:spPr>
        <p:txBody>
          <a:bodyPr/>
          <a:lstStyle/>
          <a:p>
            <a:r>
              <a:rPr lang="sv-SE" dirty="0"/>
              <a:t>Gränssnittet är uppdelat i fyra (fem) huvudvyer: Origo, Extra, Meta och Verktyg (den femte, Allt, är en sammanslagning av alla fyra vyerna i en och samma vy).</a:t>
            </a:r>
            <a:br>
              <a:rPr lang="sv-SE" dirty="0"/>
            </a:br>
            <a:endParaRPr lang="sv-SE" dirty="0"/>
          </a:p>
          <a:p>
            <a:r>
              <a:rPr lang="sv-SE" dirty="0"/>
              <a:t>Till vänster om vy-väljaren hittar man ”Hjälp”-knappen som öppnar hjälp-verktyget med gränssnittsövergripande information och länkar.</a:t>
            </a:r>
          </a:p>
          <a:p>
            <a:endParaRPr lang="sv-SE" dirty="0"/>
          </a:p>
          <a:p>
            <a:r>
              <a:rPr lang="sv-SE" dirty="0"/>
              <a:t>Hjälp-verktyget kan även visa fältspecifik information genom att man klickar på frågetecknet (?) direkt till höger om de flesta input-fält.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BD09FF01-0733-97A8-7543-6B7CB6E7F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1" name="Grupp 10">
            <a:extLst>
              <a:ext uri="{FF2B5EF4-FFF2-40B4-BE49-F238E27FC236}">
                <a16:creationId xmlns:a16="http://schemas.microsoft.com/office/drawing/2014/main" id="{1402D91C-926D-0420-A967-B11BE598A630}"/>
              </a:ext>
            </a:extLst>
          </p:cNvPr>
          <p:cNvGrpSpPr/>
          <p:nvPr/>
        </p:nvGrpSpPr>
        <p:grpSpPr>
          <a:xfrm>
            <a:off x="6823587" y="1759973"/>
            <a:ext cx="4766838" cy="383031"/>
            <a:chOff x="6479458" y="2320412"/>
            <a:chExt cx="4766838" cy="383031"/>
          </a:xfrm>
        </p:grpSpPr>
        <p:pic>
          <p:nvPicPr>
            <p:cNvPr id="7" name="Bildobjekt 6">
              <a:extLst>
                <a:ext uri="{FF2B5EF4-FFF2-40B4-BE49-F238E27FC236}">
                  <a16:creationId xmlns:a16="http://schemas.microsoft.com/office/drawing/2014/main" id="{292CB366-E6F6-9B7B-7C5D-FE95E82A9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9458" y="2320413"/>
              <a:ext cx="4766838" cy="383030"/>
            </a:xfrm>
            <a:prstGeom prst="rect">
              <a:avLst/>
            </a:prstGeom>
          </p:spPr>
        </p:pic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9429B67B-EDF7-BEFB-0AC5-6C36DF52BF18}"/>
                </a:ext>
              </a:extLst>
            </p:cNvPr>
            <p:cNvSpPr/>
            <p:nvPr/>
          </p:nvSpPr>
          <p:spPr>
            <a:xfrm>
              <a:off x="8124569" y="2320413"/>
              <a:ext cx="2900156" cy="383030"/>
            </a:xfrm>
            <a:prstGeom prst="rect">
              <a:avLst/>
            </a:prstGeom>
            <a:noFill/>
            <a:ln w="635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" name="Rektangel 5">
              <a:extLst>
                <a:ext uri="{FF2B5EF4-FFF2-40B4-BE49-F238E27FC236}">
                  <a16:creationId xmlns:a16="http://schemas.microsoft.com/office/drawing/2014/main" id="{B8956EB5-7424-2E32-898C-AAF008259E3A}"/>
                </a:ext>
              </a:extLst>
            </p:cNvPr>
            <p:cNvSpPr/>
            <p:nvPr/>
          </p:nvSpPr>
          <p:spPr>
            <a:xfrm>
              <a:off x="7618207" y="2320412"/>
              <a:ext cx="506362" cy="383030"/>
            </a:xfrm>
            <a:prstGeom prst="rect">
              <a:avLst/>
            </a:prstGeom>
            <a:noFill/>
            <a:ln w="635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3" name="Grupp 12">
            <a:extLst>
              <a:ext uri="{FF2B5EF4-FFF2-40B4-BE49-F238E27FC236}">
                <a16:creationId xmlns:a16="http://schemas.microsoft.com/office/drawing/2014/main" id="{4C9CCA6D-5196-4238-FF42-98FE26C00C13}"/>
              </a:ext>
            </a:extLst>
          </p:cNvPr>
          <p:cNvGrpSpPr/>
          <p:nvPr/>
        </p:nvGrpSpPr>
        <p:grpSpPr>
          <a:xfrm>
            <a:off x="9073879" y="2366855"/>
            <a:ext cx="2486401" cy="424766"/>
            <a:chOff x="9134167" y="2366855"/>
            <a:chExt cx="2486401" cy="424766"/>
          </a:xfrm>
        </p:grpSpPr>
        <p:pic>
          <p:nvPicPr>
            <p:cNvPr id="10" name="Bildobjekt 9">
              <a:extLst>
                <a:ext uri="{FF2B5EF4-FFF2-40B4-BE49-F238E27FC236}">
                  <a16:creationId xmlns:a16="http://schemas.microsoft.com/office/drawing/2014/main" id="{666F70E9-EF58-328C-6051-34100EF6D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34167" y="2366855"/>
              <a:ext cx="2456257" cy="424766"/>
            </a:xfrm>
            <a:prstGeom prst="rect">
              <a:avLst/>
            </a:prstGeom>
          </p:spPr>
        </p:pic>
        <p:sp>
          <p:nvSpPr>
            <p:cNvPr id="12" name="Rektangel 11">
              <a:extLst>
                <a:ext uri="{FF2B5EF4-FFF2-40B4-BE49-F238E27FC236}">
                  <a16:creationId xmlns:a16="http://schemas.microsoft.com/office/drawing/2014/main" id="{8D3B12E2-ECE3-C2C6-655A-CF77D47F9E4F}"/>
                </a:ext>
              </a:extLst>
            </p:cNvPr>
            <p:cNvSpPr/>
            <p:nvPr/>
          </p:nvSpPr>
          <p:spPr>
            <a:xfrm>
              <a:off x="11264674" y="2366855"/>
              <a:ext cx="355894" cy="424766"/>
            </a:xfrm>
            <a:prstGeom prst="rect">
              <a:avLst/>
            </a:prstGeom>
            <a:noFill/>
            <a:ln w="635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1798411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6C7D6-8153-F8FB-0EA2-5268B7F0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349A3CCF-A2BB-63FB-AEBA-0DA7DC94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5835217" cy="2075290"/>
          </a:xfrm>
        </p:spPr>
        <p:txBody>
          <a:bodyPr/>
          <a:lstStyle/>
          <a:p>
            <a:r>
              <a:rPr lang="sv-SE" dirty="0"/>
              <a:t>Lägg till en tjänst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FDB8C249-C647-2C90-3155-A57604EE46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3099215"/>
            <a:ext cx="8317159" cy="265935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v-SE" dirty="0"/>
              <a:t>Gå till Origo-vyn.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in ”QgisKristianstad#1” under ”Tjänst” och klicka på ”Skapa” 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4EC62CDF-7938-2389-3A9E-66D47472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0" name="Grupp 9">
            <a:extLst>
              <a:ext uri="{FF2B5EF4-FFF2-40B4-BE49-F238E27FC236}">
                <a16:creationId xmlns:a16="http://schemas.microsoft.com/office/drawing/2014/main" id="{9BC1BF21-3EB3-973E-CE8C-59B4D8582CFD}"/>
              </a:ext>
            </a:extLst>
          </p:cNvPr>
          <p:cNvGrpSpPr/>
          <p:nvPr/>
        </p:nvGrpSpPr>
        <p:grpSpPr>
          <a:xfrm>
            <a:off x="511871" y="3869961"/>
            <a:ext cx="11345183" cy="1755696"/>
            <a:chOff x="511871" y="3869961"/>
            <a:chExt cx="11345183" cy="1755696"/>
          </a:xfrm>
        </p:grpSpPr>
        <p:pic>
          <p:nvPicPr>
            <p:cNvPr id="6" name="Bildobjekt 5" descr="En bild som visar skärmbild, Multimedieprogram, Grafikprogramvara, programvara&#10;&#10;AI-genererat innehåll kan vara felaktigt.">
              <a:extLst>
                <a:ext uri="{FF2B5EF4-FFF2-40B4-BE49-F238E27FC236}">
                  <a16:creationId xmlns:a16="http://schemas.microsoft.com/office/drawing/2014/main" id="{65FAD431-F9DF-052C-F422-9088D7341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1871" y="3869961"/>
              <a:ext cx="11345183" cy="1755696"/>
            </a:xfrm>
            <a:prstGeom prst="rect">
              <a:avLst/>
            </a:prstGeom>
          </p:spPr>
        </p:pic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C19CE5F7-197B-CD0E-1612-F1BB39449D29}"/>
                </a:ext>
              </a:extLst>
            </p:cNvPr>
            <p:cNvSpPr/>
            <p:nvPr/>
          </p:nvSpPr>
          <p:spPr>
            <a:xfrm>
              <a:off x="8872696" y="4621956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" name="textruta 1">
              <a:extLst>
                <a:ext uri="{FF2B5EF4-FFF2-40B4-BE49-F238E27FC236}">
                  <a16:creationId xmlns:a16="http://schemas.microsoft.com/office/drawing/2014/main" id="{476DC287-2F97-9CD3-0A52-5FBB9E3EACF5}"/>
                </a:ext>
              </a:extLst>
            </p:cNvPr>
            <p:cNvSpPr txBox="1"/>
            <p:nvPr/>
          </p:nvSpPr>
          <p:spPr>
            <a:xfrm>
              <a:off x="8782256" y="4580363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10993BBE-4AED-8FC9-7A16-567404E28640}"/>
                </a:ext>
              </a:extLst>
            </p:cNvPr>
            <p:cNvSpPr/>
            <p:nvPr/>
          </p:nvSpPr>
          <p:spPr>
            <a:xfrm>
              <a:off x="8782256" y="4187130"/>
              <a:ext cx="381841" cy="215444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276548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69636-BC76-3757-E93C-48C1D1BD0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94A54213-8029-7925-F249-B20517114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8327208" cy="1180550"/>
          </a:xfrm>
        </p:spPr>
        <p:txBody>
          <a:bodyPr/>
          <a:lstStyle/>
          <a:p>
            <a:r>
              <a:rPr lang="sv-SE" dirty="0"/>
              <a:t>Hämta tjänsten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6697558F-42F3-6314-B05D-A1B9C2D97F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2079488"/>
            <a:ext cx="9813311" cy="3778702"/>
          </a:xfrm>
        </p:spPr>
        <p:txBody>
          <a:bodyPr/>
          <a:lstStyle/>
          <a:p>
            <a:r>
              <a:rPr lang="sv-SE" dirty="0"/>
              <a:t>Välj den nyskapade tjänsten ”QgisKristianstad#1” i listan av tjänster.</a:t>
            </a:r>
            <a:br>
              <a:rPr lang="sv-SE" dirty="0"/>
            </a:br>
            <a:endParaRPr lang="sv-SE" dirty="0"/>
          </a:p>
          <a:p>
            <a:r>
              <a:rPr lang="sv-SE" dirty="0"/>
              <a:t>Tjänstens egenskaper kommer då visas i en ny avdelning nedanför </a:t>
            </a:r>
            <a:r>
              <a:rPr lang="sv-SE" dirty="0" err="1"/>
              <a:t>huvudlisten</a:t>
            </a:r>
            <a:r>
              <a:rPr lang="sv-SE" dirty="0"/>
              <a:t>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F7FDB7B1-EC45-27B2-E2AD-A96BF52D0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7" name="Grupp 6">
            <a:extLst>
              <a:ext uri="{FF2B5EF4-FFF2-40B4-BE49-F238E27FC236}">
                <a16:creationId xmlns:a16="http://schemas.microsoft.com/office/drawing/2014/main" id="{DDB075E8-8FD4-DCA5-7DB6-CAB4D81C7E7D}"/>
              </a:ext>
            </a:extLst>
          </p:cNvPr>
          <p:cNvGrpSpPr/>
          <p:nvPr/>
        </p:nvGrpSpPr>
        <p:grpSpPr>
          <a:xfrm>
            <a:off x="288941" y="3564393"/>
            <a:ext cx="11537969" cy="1590411"/>
            <a:chOff x="288941" y="3564393"/>
            <a:chExt cx="11537969" cy="1590411"/>
          </a:xfrm>
        </p:grpSpPr>
        <p:pic>
          <p:nvPicPr>
            <p:cNvPr id="9" name="Bildobjekt 8" descr="En bild som visar Multimedieprogram, programvara, Grafikprogramvara, skärmbild&#10;&#10;AI-genererat innehåll kan vara felaktigt.">
              <a:extLst>
                <a:ext uri="{FF2B5EF4-FFF2-40B4-BE49-F238E27FC236}">
                  <a16:creationId xmlns:a16="http://schemas.microsoft.com/office/drawing/2014/main" id="{7A9812CD-0527-D0E8-E0BB-62AA0C6E6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656" b="22750"/>
            <a:stretch>
              <a:fillRect/>
            </a:stretch>
          </p:blipFill>
          <p:spPr>
            <a:xfrm>
              <a:off x="288941" y="3564393"/>
              <a:ext cx="11537969" cy="1590411"/>
            </a:xfrm>
            <a:prstGeom prst="rect">
              <a:avLst/>
            </a:prstGeom>
          </p:spPr>
        </p:pic>
        <p:sp>
          <p:nvSpPr>
            <p:cNvPr id="2" name="Rektangel 1">
              <a:extLst>
                <a:ext uri="{FF2B5EF4-FFF2-40B4-BE49-F238E27FC236}">
                  <a16:creationId xmlns:a16="http://schemas.microsoft.com/office/drawing/2014/main" id="{F89D8AA7-C7D0-5115-7E68-3A5C60797B16}"/>
                </a:ext>
              </a:extLst>
            </p:cNvPr>
            <p:cNvSpPr/>
            <p:nvPr/>
          </p:nvSpPr>
          <p:spPr>
            <a:xfrm>
              <a:off x="8938978" y="4848861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" name="textruta 5">
              <a:extLst>
                <a:ext uri="{FF2B5EF4-FFF2-40B4-BE49-F238E27FC236}">
                  <a16:creationId xmlns:a16="http://schemas.microsoft.com/office/drawing/2014/main" id="{A7A99F6D-A2CF-4BFB-7898-168DE1E0F6EC}"/>
                </a:ext>
              </a:extLst>
            </p:cNvPr>
            <p:cNvSpPr txBox="1"/>
            <p:nvPr/>
          </p:nvSpPr>
          <p:spPr>
            <a:xfrm>
              <a:off x="8848538" y="4807268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1472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B088A-2D12-B916-6F76-1AD006236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28F72CC9-66EC-3B58-54F9-7EA8A330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6016087" cy="1250889"/>
          </a:xfrm>
        </p:spPr>
        <p:txBody>
          <a:bodyPr/>
          <a:lstStyle/>
          <a:p>
            <a:r>
              <a:rPr lang="sv-SE" dirty="0"/>
              <a:t>Ange tjänstens typ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9B529B01-C377-7AFD-7D35-FAFCA15DDA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2100106"/>
            <a:ext cx="9813311" cy="3458422"/>
          </a:xfrm>
        </p:spPr>
        <p:txBody>
          <a:bodyPr/>
          <a:lstStyle/>
          <a:p>
            <a:r>
              <a:rPr lang="sv-SE" dirty="0"/>
              <a:t>Välj typ: QGIS (för </a:t>
            </a:r>
            <a:r>
              <a:rPr lang="sv-SE" dirty="0" err="1"/>
              <a:t>Qgis</a:t>
            </a:r>
            <a:r>
              <a:rPr lang="sv-SE" dirty="0"/>
              <a:t> Server), och klicka på uppdatera för att visa fler, typ-specifika inställningsmöjligheter.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ACE0EFA0-7B9A-E49D-B117-09CDFE49C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0" name="Grupp 9">
            <a:extLst>
              <a:ext uri="{FF2B5EF4-FFF2-40B4-BE49-F238E27FC236}">
                <a16:creationId xmlns:a16="http://schemas.microsoft.com/office/drawing/2014/main" id="{3AB78A7E-C796-552F-5EB1-31152421A430}"/>
              </a:ext>
            </a:extLst>
          </p:cNvPr>
          <p:cNvGrpSpPr/>
          <p:nvPr/>
        </p:nvGrpSpPr>
        <p:grpSpPr>
          <a:xfrm>
            <a:off x="185194" y="3034603"/>
            <a:ext cx="11702831" cy="2523926"/>
            <a:chOff x="185194" y="3034603"/>
            <a:chExt cx="11702831" cy="2523926"/>
          </a:xfrm>
        </p:grpSpPr>
        <p:pic>
          <p:nvPicPr>
            <p:cNvPr id="6" name="Bildobjekt 5" descr="En bild som visar text, programvara, Multimedieprogram, Grafikprogramvara&#10;&#10;AI-genererat innehåll kan vara felaktigt.">
              <a:extLst>
                <a:ext uri="{FF2B5EF4-FFF2-40B4-BE49-F238E27FC236}">
                  <a16:creationId xmlns:a16="http://schemas.microsoft.com/office/drawing/2014/main" id="{FD4B2BD0-4FA8-5C3A-47C4-5A47A9F7F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6" b="14808"/>
            <a:stretch>
              <a:fillRect/>
            </a:stretch>
          </p:blipFill>
          <p:spPr>
            <a:xfrm>
              <a:off x="185194" y="3034603"/>
              <a:ext cx="11702831" cy="2523926"/>
            </a:xfrm>
            <a:prstGeom prst="rect">
              <a:avLst/>
            </a:prstGeom>
          </p:spPr>
        </p:pic>
        <p:sp>
          <p:nvSpPr>
            <p:cNvPr id="2" name="Rektangel 1">
              <a:extLst>
                <a:ext uri="{FF2B5EF4-FFF2-40B4-BE49-F238E27FC236}">
                  <a16:creationId xmlns:a16="http://schemas.microsoft.com/office/drawing/2014/main" id="{4E314067-F687-2DA6-A98B-1BBBC0517736}"/>
                </a:ext>
              </a:extLst>
            </p:cNvPr>
            <p:cNvSpPr/>
            <p:nvPr/>
          </p:nvSpPr>
          <p:spPr>
            <a:xfrm>
              <a:off x="394415" y="4155525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" name="textruta 6">
              <a:extLst>
                <a:ext uri="{FF2B5EF4-FFF2-40B4-BE49-F238E27FC236}">
                  <a16:creationId xmlns:a16="http://schemas.microsoft.com/office/drawing/2014/main" id="{BAE35D66-D0CF-94A5-7A4F-CDC40562D04F}"/>
                </a:ext>
              </a:extLst>
            </p:cNvPr>
            <p:cNvSpPr txBox="1"/>
            <p:nvPr/>
          </p:nvSpPr>
          <p:spPr>
            <a:xfrm>
              <a:off x="303975" y="4113932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48CFAB5C-03E5-30BC-D678-1C064A76C0CB}"/>
                </a:ext>
              </a:extLst>
            </p:cNvPr>
            <p:cNvSpPr/>
            <p:nvPr/>
          </p:nvSpPr>
          <p:spPr>
            <a:xfrm>
              <a:off x="275634" y="3501392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" name="textruta 8">
              <a:extLst>
                <a:ext uri="{FF2B5EF4-FFF2-40B4-BE49-F238E27FC236}">
                  <a16:creationId xmlns:a16="http://schemas.microsoft.com/office/drawing/2014/main" id="{F33EF0DB-0DF7-D684-4D77-B5201F0556E5}"/>
                </a:ext>
              </a:extLst>
            </p:cNvPr>
            <p:cNvSpPr txBox="1"/>
            <p:nvPr/>
          </p:nvSpPr>
          <p:spPr>
            <a:xfrm>
              <a:off x="185194" y="3459799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1628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AB69-ADA5-E7D5-D47A-E7B71C523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E390CA38-AC14-AADB-3A92-85A6FB624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8401786" cy="1200647"/>
          </a:xfrm>
        </p:spPr>
        <p:txBody>
          <a:bodyPr/>
          <a:lstStyle/>
          <a:p>
            <a:r>
              <a:rPr lang="sv-SE" dirty="0"/>
              <a:t>Ange tjänstens egenskaper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593F9D42-CEDC-FCBE-5CD0-299339C4F6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2130252"/>
            <a:ext cx="9813311" cy="3428276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v-SE" dirty="0"/>
              <a:t>Skriv in </a:t>
            </a:r>
            <a:r>
              <a:rPr lang="sv-SE" dirty="0">
                <a:hlinkClick r:id="rId3"/>
              </a:rPr>
              <a:t>https://kartor.kristianstad.se/qgisserver-shared/ows</a:t>
            </a:r>
            <a:r>
              <a:rPr lang="sv-SE" dirty="0"/>
              <a:t> i fältet ”</a:t>
            </a:r>
            <a:r>
              <a:rPr lang="sv-SE" dirty="0" err="1"/>
              <a:t>Huvudurl</a:t>
            </a:r>
            <a:r>
              <a:rPr lang="sv-SE" dirty="0"/>
              <a:t>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därefter på plustecknet (+) till höger om ”Tillgängliga format” för att öppna flervalsverktyget.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1AF5FA0F-FC7B-ADE3-B8A9-4908E016E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0" name="Grupp 9">
            <a:extLst>
              <a:ext uri="{FF2B5EF4-FFF2-40B4-BE49-F238E27FC236}">
                <a16:creationId xmlns:a16="http://schemas.microsoft.com/office/drawing/2014/main" id="{AE77B08B-C44A-5E54-042E-2F66C6217491}"/>
              </a:ext>
            </a:extLst>
          </p:cNvPr>
          <p:cNvGrpSpPr/>
          <p:nvPr/>
        </p:nvGrpSpPr>
        <p:grpSpPr>
          <a:xfrm>
            <a:off x="231104" y="3225521"/>
            <a:ext cx="11844284" cy="1738076"/>
            <a:chOff x="231104" y="3225521"/>
            <a:chExt cx="11844284" cy="1738076"/>
          </a:xfrm>
        </p:grpSpPr>
        <p:pic>
          <p:nvPicPr>
            <p:cNvPr id="9" name="Bildobjekt 8" descr="En bild som visar skärmbild, programvara, linje, Multimedieprogram&#10;&#10;AI-genererat innehåll kan vara felaktigt.">
              <a:extLst>
                <a:ext uri="{FF2B5EF4-FFF2-40B4-BE49-F238E27FC236}">
                  <a16:creationId xmlns:a16="http://schemas.microsoft.com/office/drawing/2014/main" id="{294B2484-8567-3C11-89B5-85DB7B146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916" y="3225521"/>
              <a:ext cx="11839472" cy="1738076"/>
            </a:xfrm>
            <a:prstGeom prst="rect">
              <a:avLst/>
            </a:prstGeom>
          </p:spPr>
        </p:pic>
        <p:sp>
          <p:nvSpPr>
            <p:cNvPr id="2" name="Rektangel 1">
              <a:extLst>
                <a:ext uri="{FF2B5EF4-FFF2-40B4-BE49-F238E27FC236}">
                  <a16:creationId xmlns:a16="http://schemas.microsoft.com/office/drawing/2014/main" id="{322ED618-CC40-7BBE-8548-43C979E6143F}"/>
                </a:ext>
              </a:extLst>
            </p:cNvPr>
            <p:cNvSpPr/>
            <p:nvPr/>
          </p:nvSpPr>
          <p:spPr>
            <a:xfrm>
              <a:off x="411984" y="4350651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" name="textruta 5">
              <a:extLst>
                <a:ext uri="{FF2B5EF4-FFF2-40B4-BE49-F238E27FC236}">
                  <a16:creationId xmlns:a16="http://schemas.microsoft.com/office/drawing/2014/main" id="{BB93A115-5B52-6F74-A4E1-BE144903BB95}"/>
                </a:ext>
              </a:extLst>
            </p:cNvPr>
            <p:cNvSpPr txBox="1"/>
            <p:nvPr/>
          </p:nvSpPr>
          <p:spPr>
            <a:xfrm>
              <a:off x="321544" y="4309058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58DE29F0-4F60-DA6A-EB19-7004C534F6F8}"/>
                </a:ext>
              </a:extLst>
            </p:cNvPr>
            <p:cNvSpPr/>
            <p:nvPr/>
          </p:nvSpPr>
          <p:spPr>
            <a:xfrm>
              <a:off x="321544" y="3685247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" name="textruta 7">
              <a:extLst>
                <a:ext uri="{FF2B5EF4-FFF2-40B4-BE49-F238E27FC236}">
                  <a16:creationId xmlns:a16="http://schemas.microsoft.com/office/drawing/2014/main" id="{BBD18809-15E0-329E-A9D7-F4D1A844496A}"/>
                </a:ext>
              </a:extLst>
            </p:cNvPr>
            <p:cNvSpPr txBox="1"/>
            <p:nvPr/>
          </p:nvSpPr>
          <p:spPr>
            <a:xfrm>
              <a:off x="231104" y="3643654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0086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79A6C-38CE-F96E-1E92-D9CF16382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C2D03534-12B0-3B5C-264B-2C52BA436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8" y="628154"/>
            <a:ext cx="10256491" cy="970541"/>
          </a:xfrm>
        </p:spPr>
        <p:txBody>
          <a:bodyPr/>
          <a:lstStyle/>
          <a:p>
            <a:r>
              <a:rPr lang="sv-SE" dirty="0"/>
              <a:t>Ange de format som tjänsten erbjuder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A76EFE59-F9F6-8C04-0F10-6FEBA01B14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1909187"/>
            <a:ext cx="9813311" cy="364934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v-SE" dirty="0"/>
              <a:t>Välj WMS och WFS med musen och klicka på ”Använd värde”. Flervalsverktyget stängs och fältet ”Tillgängliga format” får värdet ”WMS, WFS”.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på ”Uppdatera” för att permanent spara alla de inställningar vi gjort på tjänsten.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6EBD22B-2568-98A3-A419-6DCA3FAA1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1" name="Grupp 10">
            <a:extLst>
              <a:ext uri="{FF2B5EF4-FFF2-40B4-BE49-F238E27FC236}">
                <a16:creationId xmlns:a16="http://schemas.microsoft.com/office/drawing/2014/main" id="{E8914031-03A0-5020-4E87-206ABE6871C2}"/>
              </a:ext>
            </a:extLst>
          </p:cNvPr>
          <p:cNvGrpSpPr/>
          <p:nvPr/>
        </p:nvGrpSpPr>
        <p:grpSpPr>
          <a:xfrm>
            <a:off x="138673" y="3215475"/>
            <a:ext cx="11922544" cy="2383245"/>
            <a:chOff x="138673" y="3215475"/>
            <a:chExt cx="11922544" cy="2383245"/>
          </a:xfrm>
        </p:grpSpPr>
        <p:pic>
          <p:nvPicPr>
            <p:cNvPr id="6" name="Bildobjekt 5" descr="En bild som visar text, skärmbild, programvara, Multimedieprogram&#10;&#10;AI-genererat innehåll kan vara felaktigt.">
              <a:extLst>
                <a:ext uri="{FF2B5EF4-FFF2-40B4-BE49-F238E27FC236}">
                  <a16:creationId xmlns:a16="http://schemas.microsoft.com/office/drawing/2014/main" id="{6E4DD358-1F27-E848-E55F-F55BA18B0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161"/>
            <a:stretch>
              <a:fillRect/>
            </a:stretch>
          </p:blipFill>
          <p:spPr>
            <a:xfrm>
              <a:off x="138673" y="3215475"/>
              <a:ext cx="11922544" cy="2383245"/>
            </a:xfrm>
            <a:prstGeom prst="rect">
              <a:avLst/>
            </a:prstGeom>
          </p:spPr>
        </p:pic>
        <p:sp>
          <p:nvSpPr>
            <p:cNvPr id="2" name="Rektangel 1">
              <a:extLst>
                <a:ext uri="{FF2B5EF4-FFF2-40B4-BE49-F238E27FC236}">
                  <a16:creationId xmlns:a16="http://schemas.microsoft.com/office/drawing/2014/main" id="{45CAFDA2-9DF2-226C-1668-BCEE8BB02332}"/>
                </a:ext>
              </a:extLst>
            </p:cNvPr>
            <p:cNvSpPr/>
            <p:nvPr/>
          </p:nvSpPr>
          <p:spPr>
            <a:xfrm>
              <a:off x="321549" y="4420989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" name="textruta 6">
              <a:extLst>
                <a:ext uri="{FF2B5EF4-FFF2-40B4-BE49-F238E27FC236}">
                  <a16:creationId xmlns:a16="http://schemas.microsoft.com/office/drawing/2014/main" id="{BC4D4F7E-45EB-6934-2D1B-6A57E73A1102}"/>
                </a:ext>
              </a:extLst>
            </p:cNvPr>
            <p:cNvSpPr txBox="1"/>
            <p:nvPr/>
          </p:nvSpPr>
          <p:spPr>
            <a:xfrm>
              <a:off x="231109" y="4379396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6479DC0F-E75B-03B9-13E7-669EEAFCA005}"/>
                </a:ext>
              </a:extLst>
            </p:cNvPr>
            <p:cNvSpPr/>
            <p:nvPr/>
          </p:nvSpPr>
          <p:spPr>
            <a:xfrm>
              <a:off x="411989" y="5085454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" name="textruta 8">
              <a:extLst>
                <a:ext uri="{FF2B5EF4-FFF2-40B4-BE49-F238E27FC236}">
                  <a16:creationId xmlns:a16="http://schemas.microsoft.com/office/drawing/2014/main" id="{7E07F3D6-CAE6-8847-EDBB-E4833EC63D15}"/>
                </a:ext>
              </a:extLst>
            </p:cNvPr>
            <p:cNvSpPr txBox="1"/>
            <p:nvPr/>
          </p:nvSpPr>
          <p:spPr>
            <a:xfrm>
              <a:off x="321549" y="5043861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429BB54A-71FA-6F4C-EAAA-3CD8F01B24A8}"/>
                </a:ext>
              </a:extLst>
            </p:cNvPr>
            <p:cNvSpPr/>
            <p:nvPr/>
          </p:nvSpPr>
          <p:spPr>
            <a:xfrm>
              <a:off x="10400043" y="5355771"/>
              <a:ext cx="554480" cy="242949"/>
            </a:xfrm>
            <a:prstGeom prst="rect">
              <a:avLst/>
            </a:prstGeom>
            <a:noFill/>
            <a:ln w="635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3415695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69D5-3E49-1C1D-B46D-72A7D7CE9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D3CF576D-AEFE-BE06-17BF-41E385A33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4867133" cy="1270985"/>
          </a:xfrm>
        </p:spPr>
        <p:txBody>
          <a:bodyPr/>
          <a:lstStyle/>
          <a:p>
            <a:r>
              <a:rPr lang="sv-SE" dirty="0"/>
              <a:t>Lägg till en källa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F225BE7-CE7E-5BD2-511F-7F1AD92013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2170444"/>
            <a:ext cx="9813311" cy="3388083"/>
          </a:xfrm>
        </p:spPr>
        <p:txBody>
          <a:bodyPr/>
          <a:lstStyle/>
          <a:p>
            <a:r>
              <a:rPr lang="sv-SE" dirty="0"/>
              <a:t>Nu ska vi registrera en ny källa utifrån ett befintligt </a:t>
            </a:r>
            <a:r>
              <a:rPr lang="sv-SE" dirty="0" err="1"/>
              <a:t>Qgis</a:t>
            </a:r>
            <a:r>
              <a:rPr lang="sv-SE" dirty="0"/>
              <a:t>-projekt som ligger publicerat på tjänsten QgisKristianstad#1. Namnet på källan som vi skapar måste överensstämma med namnet på det publicerade </a:t>
            </a:r>
            <a:r>
              <a:rPr lang="sv-SE" dirty="0" err="1"/>
              <a:t>Qgis</a:t>
            </a:r>
            <a:r>
              <a:rPr lang="sv-SE" dirty="0"/>
              <a:t> Server-projektet, dock kan vi lägga till en </a:t>
            </a:r>
            <a:r>
              <a:rPr lang="sv-SE" dirty="0" err="1"/>
              <a:t>hashtag</a:t>
            </a:r>
            <a:r>
              <a:rPr lang="sv-SE" dirty="0"/>
              <a:t> med ett valfritt suffix. Projektet som vi ska använda oss av heter ”</a:t>
            </a:r>
            <a:r>
              <a:rPr lang="sv-SE" dirty="0" err="1"/>
              <a:t>kkarta</a:t>
            </a:r>
            <a:r>
              <a:rPr lang="sv-SE" dirty="0"/>
              <a:t>” så vi väljer således att skapa en ny källa med namnet ”kkarta#1”.</a:t>
            </a:r>
          </a:p>
          <a:p>
            <a:endParaRPr lang="sv-SE" dirty="0"/>
          </a:p>
          <a:p>
            <a:r>
              <a:rPr lang="sv-SE" dirty="0"/>
              <a:t>Skriv in kkarta#1 i textrutan under Källa och klicka på ”Skapa”.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0EF9500-5E1E-3076-3CB6-7D4FF61A6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2" name="Grupp 1">
            <a:extLst>
              <a:ext uri="{FF2B5EF4-FFF2-40B4-BE49-F238E27FC236}">
                <a16:creationId xmlns:a16="http://schemas.microsoft.com/office/drawing/2014/main" id="{7A3AD47B-5F65-9F77-2AE8-E7B54D9856D7}"/>
              </a:ext>
            </a:extLst>
          </p:cNvPr>
          <p:cNvGrpSpPr/>
          <p:nvPr/>
        </p:nvGrpSpPr>
        <p:grpSpPr>
          <a:xfrm>
            <a:off x="998332" y="4271587"/>
            <a:ext cx="9652921" cy="893266"/>
            <a:chOff x="998332" y="4271587"/>
            <a:chExt cx="9652921" cy="893266"/>
          </a:xfrm>
        </p:grpSpPr>
        <p:pic>
          <p:nvPicPr>
            <p:cNvPr id="9" name="Bildobjekt 8" descr="En bild som visar text, programvara, linje, Multimedieprogram&#10;&#10;AI-genererat innehåll kan vara felaktigt.">
              <a:extLst>
                <a:ext uri="{FF2B5EF4-FFF2-40B4-BE49-F238E27FC236}">
                  <a16:creationId xmlns:a16="http://schemas.microsoft.com/office/drawing/2014/main" id="{EAC1169B-215F-022D-3813-17C247EBD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08" b="35595"/>
            <a:stretch>
              <a:fillRect/>
            </a:stretch>
          </p:blipFill>
          <p:spPr>
            <a:xfrm>
              <a:off x="998332" y="4271587"/>
              <a:ext cx="9652921" cy="893266"/>
            </a:xfrm>
            <a:prstGeom prst="rect">
              <a:avLst/>
            </a:prstGeom>
          </p:spPr>
        </p:pic>
        <p:sp>
          <p:nvSpPr>
            <p:cNvPr id="6" name="Rektangel 5">
              <a:extLst>
                <a:ext uri="{FF2B5EF4-FFF2-40B4-BE49-F238E27FC236}">
                  <a16:creationId xmlns:a16="http://schemas.microsoft.com/office/drawing/2014/main" id="{B44FA31A-8AD8-4E9B-9296-F6792A01A26C}"/>
                </a:ext>
              </a:extLst>
            </p:cNvPr>
            <p:cNvSpPr/>
            <p:nvPr/>
          </p:nvSpPr>
          <p:spPr>
            <a:xfrm>
              <a:off x="1083121" y="4668872"/>
              <a:ext cx="338099" cy="9869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1227082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D110B-234F-89A6-48A1-325719794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EB9A3F45-3D0D-1720-A0B2-EC9750D2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8106144" cy="1391566"/>
          </a:xfrm>
        </p:spPr>
        <p:txBody>
          <a:bodyPr/>
          <a:lstStyle/>
          <a:p>
            <a:r>
              <a:rPr lang="sv-SE" dirty="0"/>
              <a:t>Ange tjänsten som tillhandahåller källan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359FC44B-A139-9008-11A8-1C90952A7E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2130252"/>
            <a:ext cx="9813311" cy="3428276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v-SE" dirty="0"/>
              <a:t>Hämta den nyskapade källan, kkarta#1, genom att välja den i rullisten under ”Källa”. Källans egenskaper visas.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Bland egenskaperna hittar du fältet ”Tjänst” där du ska ange vilken tjänst som källan är publicerad av. Välj QgisKristianstad#1 i rullisten.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sedan på knappen ”Uppdatera” för att spara och uppdatera gränssnittet med fler tjänstespecifika inställningsmöjligheter.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3C531F31-DE42-0044-583A-DE27EB2C2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2" name="Grupp 1">
            <a:extLst>
              <a:ext uri="{FF2B5EF4-FFF2-40B4-BE49-F238E27FC236}">
                <a16:creationId xmlns:a16="http://schemas.microsoft.com/office/drawing/2014/main" id="{8559648D-1813-AC0D-5574-4E972E795E64}"/>
              </a:ext>
            </a:extLst>
          </p:cNvPr>
          <p:cNvGrpSpPr/>
          <p:nvPr/>
        </p:nvGrpSpPr>
        <p:grpSpPr>
          <a:xfrm>
            <a:off x="233988" y="3989196"/>
            <a:ext cx="11713156" cy="1679865"/>
            <a:chOff x="233988" y="3989196"/>
            <a:chExt cx="11713156" cy="1679865"/>
          </a:xfrm>
        </p:grpSpPr>
        <p:pic>
          <p:nvPicPr>
            <p:cNvPr id="6" name="Bildobjekt 5" descr="En bild som visar text, linje, Parallell, skärmbild&#10;&#10;AI-genererat innehåll kan vara felaktigt.">
              <a:extLst>
                <a:ext uri="{FF2B5EF4-FFF2-40B4-BE49-F238E27FC236}">
                  <a16:creationId xmlns:a16="http://schemas.microsoft.com/office/drawing/2014/main" id="{2AB4550C-D90D-3E81-C21B-F289FD902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988" y="3989196"/>
              <a:ext cx="11713156" cy="1679865"/>
            </a:xfrm>
            <a:prstGeom prst="rect">
              <a:avLst/>
            </a:prstGeom>
          </p:spPr>
        </p:pic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1311C563-1E18-C678-BCEF-413F4E0EF151}"/>
                </a:ext>
              </a:extLst>
            </p:cNvPr>
            <p:cNvSpPr/>
            <p:nvPr/>
          </p:nvSpPr>
          <p:spPr>
            <a:xfrm>
              <a:off x="1929285" y="5104276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" name="textruta 8">
              <a:extLst>
                <a:ext uri="{FF2B5EF4-FFF2-40B4-BE49-F238E27FC236}">
                  <a16:creationId xmlns:a16="http://schemas.microsoft.com/office/drawing/2014/main" id="{C8C79AC4-A378-468C-9CAD-46B2D4D8AC16}"/>
                </a:ext>
              </a:extLst>
            </p:cNvPr>
            <p:cNvSpPr txBox="1"/>
            <p:nvPr/>
          </p:nvSpPr>
          <p:spPr>
            <a:xfrm>
              <a:off x="1838845" y="5062683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39DABACD-C2A7-B390-A331-5F567DE90A63}"/>
                </a:ext>
              </a:extLst>
            </p:cNvPr>
            <p:cNvSpPr/>
            <p:nvPr/>
          </p:nvSpPr>
          <p:spPr>
            <a:xfrm>
              <a:off x="10309609" y="5355771"/>
              <a:ext cx="562707" cy="313290"/>
            </a:xfrm>
            <a:prstGeom prst="rect">
              <a:avLst/>
            </a:prstGeom>
            <a:noFill/>
            <a:ln w="635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2BEAB17B-8D76-D761-C62B-EEA32ADAD2EB}"/>
                </a:ext>
              </a:extLst>
            </p:cNvPr>
            <p:cNvSpPr/>
            <p:nvPr/>
          </p:nvSpPr>
          <p:spPr>
            <a:xfrm>
              <a:off x="331597" y="4391130"/>
              <a:ext cx="964640" cy="221063"/>
            </a:xfrm>
            <a:prstGeom prst="rect">
              <a:avLst/>
            </a:prstGeom>
            <a:noFill/>
            <a:ln w="635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2258721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B3D2-B591-FD54-86ED-B7B2B2F1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BAE059E5-CB43-F189-4BE1-4F0509BA0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7312324" cy="798713"/>
          </a:xfrm>
        </p:spPr>
        <p:txBody>
          <a:bodyPr/>
          <a:lstStyle/>
          <a:p>
            <a:r>
              <a:rPr lang="sv-SE" dirty="0"/>
              <a:t>Ange källans egenskaper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70576089-21A1-6C39-DC99-3A2AB17383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1537398"/>
            <a:ext cx="9813311" cy="280349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v-SE" dirty="0"/>
              <a:t>Sätt ”</a:t>
            </a:r>
            <a:r>
              <a:rPr lang="sv-SE" dirty="0" err="1"/>
              <a:t>With_geometry</a:t>
            </a:r>
            <a:r>
              <a:rPr lang="sv-SE" dirty="0"/>
              <a:t>” till ”t” (</a:t>
            </a:r>
            <a:r>
              <a:rPr lang="sv-SE" dirty="0" err="1"/>
              <a:t>true</a:t>
            </a:r>
            <a:r>
              <a:rPr lang="sv-SE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Sätt ”</a:t>
            </a:r>
            <a:r>
              <a:rPr lang="sv-SE" dirty="0" err="1"/>
              <a:t>Fi_point_tolerance</a:t>
            </a:r>
            <a:r>
              <a:rPr lang="sv-SE" dirty="0"/>
              <a:t>” till 20.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Sätt ”</a:t>
            </a:r>
            <a:r>
              <a:rPr lang="sv-SE" dirty="0" err="1"/>
              <a:t>Ttl</a:t>
            </a:r>
            <a:r>
              <a:rPr lang="sv-SE" dirty="0"/>
              <a:t>” till 36000.</a:t>
            </a:r>
          </a:p>
          <a:p>
            <a:pPr marL="457200" indent="-457200">
              <a:buFont typeface="+mj-lt"/>
              <a:buAutoNum type="arabicPeriod"/>
            </a:pPr>
            <a:endParaRPr lang="sv-SE" dirty="0"/>
          </a:p>
          <a:p>
            <a:r>
              <a:rPr lang="sv-SE" dirty="0"/>
              <a:t>Vi har inte definierat upp några </a:t>
            </a:r>
            <a:r>
              <a:rPr lang="sv-SE" dirty="0" err="1"/>
              <a:t>tilegrids</a:t>
            </a:r>
            <a:r>
              <a:rPr lang="sv-SE" dirty="0"/>
              <a:t> så lämna den rutan tom. Övriga egenskapsfällt är för metadata och kan också lämnas tomma.</a:t>
            </a:r>
          </a:p>
          <a:p>
            <a:endParaRPr lang="sv-SE" dirty="0"/>
          </a:p>
          <a:p>
            <a:r>
              <a:rPr lang="sv-SE" dirty="0">
                <a:solidFill>
                  <a:srgbClr val="C00000"/>
                </a:solidFill>
              </a:rPr>
              <a:t>Glöm inte att klicka på ”Uppdatera” när du är klar, för att spara!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FBE7A3E7-7E12-F4F4-13AF-2F5C1BBE8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4" name="Grupp 13">
            <a:extLst>
              <a:ext uri="{FF2B5EF4-FFF2-40B4-BE49-F238E27FC236}">
                <a16:creationId xmlns:a16="http://schemas.microsoft.com/office/drawing/2014/main" id="{7DABE28E-9020-B06C-85F1-E6275EE0AD72}"/>
              </a:ext>
            </a:extLst>
          </p:cNvPr>
          <p:cNvGrpSpPr/>
          <p:nvPr/>
        </p:nvGrpSpPr>
        <p:grpSpPr>
          <a:xfrm>
            <a:off x="149044" y="3965731"/>
            <a:ext cx="11748203" cy="1671394"/>
            <a:chOff x="149044" y="3965731"/>
            <a:chExt cx="11748203" cy="1671394"/>
          </a:xfrm>
        </p:grpSpPr>
        <p:grpSp>
          <p:nvGrpSpPr>
            <p:cNvPr id="10" name="Grupp 9">
              <a:extLst>
                <a:ext uri="{FF2B5EF4-FFF2-40B4-BE49-F238E27FC236}">
                  <a16:creationId xmlns:a16="http://schemas.microsoft.com/office/drawing/2014/main" id="{BA89C3D0-2934-4407-4EEC-F1B1DE4612A6}"/>
                </a:ext>
              </a:extLst>
            </p:cNvPr>
            <p:cNvGrpSpPr/>
            <p:nvPr/>
          </p:nvGrpSpPr>
          <p:grpSpPr>
            <a:xfrm>
              <a:off x="149044" y="3965731"/>
              <a:ext cx="11748203" cy="1671394"/>
              <a:chOff x="149044" y="3965731"/>
              <a:chExt cx="11748203" cy="1671394"/>
            </a:xfrm>
          </p:grpSpPr>
          <p:grpSp>
            <p:nvGrpSpPr>
              <p:cNvPr id="8" name="Grupp 7">
                <a:extLst>
                  <a:ext uri="{FF2B5EF4-FFF2-40B4-BE49-F238E27FC236}">
                    <a16:creationId xmlns:a16="http://schemas.microsoft.com/office/drawing/2014/main" id="{A72E2B65-2A33-DC09-EE3F-514221B0AAA3}"/>
                  </a:ext>
                </a:extLst>
              </p:cNvPr>
              <p:cNvGrpSpPr/>
              <p:nvPr/>
            </p:nvGrpSpPr>
            <p:grpSpPr>
              <a:xfrm>
                <a:off x="149044" y="3965731"/>
                <a:ext cx="11748203" cy="1671394"/>
                <a:chOff x="149044" y="3965731"/>
                <a:chExt cx="11748203" cy="1671394"/>
              </a:xfrm>
            </p:grpSpPr>
            <p:pic>
              <p:nvPicPr>
                <p:cNvPr id="7" name="Bildobjekt 6" descr="En bild som visar linje, text, Parallell, skärmbild&#10;&#10;AI-genererat innehåll kan vara felaktigt.">
                  <a:extLst>
                    <a:ext uri="{FF2B5EF4-FFF2-40B4-BE49-F238E27FC236}">
                      <a16:creationId xmlns:a16="http://schemas.microsoft.com/office/drawing/2014/main" id="{8C1A6423-65F6-A3C0-C1FA-63C5F3C8F7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b="5179"/>
                <a:stretch>
                  <a:fillRect/>
                </a:stretch>
              </p:blipFill>
              <p:spPr>
                <a:xfrm>
                  <a:off x="149044" y="3965731"/>
                  <a:ext cx="11748203" cy="1671394"/>
                </a:xfrm>
                <a:prstGeom prst="rect">
                  <a:avLst/>
                </a:prstGeom>
              </p:spPr>
            </p:pic>
            <p:sp>
              <p:nvSpPr>
                <p:cNvPr id="2" name="Rektangel 1">
                  <a:extLst>
                    <a:ext uri="{FF2B5EF4-FFF2-40B4-BE49-F238E27FC236}">
                      <a16:creationId xmlns:a16="http://schemas.microsoft.com/office/drawing/2014/main" id="{D0C8DDDA-F95E-CF15-1E25-88580CABB6A4}"/>
                    </a:ext>
                  </a:extLst>
                </p:cNvPr>
                <p:cNvSpPr/>
                <p:nvPr/>
              </p:nvSpPr>
              <p:spPr>
                <a:xfrm>
                  <a:off x="1848899" y="5084180"/>
                  <a:ext cx="472273" cy="112163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6" name="textruta 5">
                  <a:extLst>
                    <a:ext uri="{FF2B5EF4-FFF2-40B4-BE49-F238E27FC236}">
                      <a16:creationId xmlns:a16="http://schemas.microsoft.com/office/drawing/2014/main" id="{6C22F5CF-9ADF-ECAA-8C96-64AE819400FD}"/>
                    </a:ext>
                  </a:extLst>
                </p:cNvPr>
                <p:cNvSpPr txBox="1"/>
                <p:nvPr/>
              </p:nvSpPr>
              <p:spPr>
                <a:xfrm>
                  <a:off x="1758459" y="5042587"/>
                  <a:ext cx="1021433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sv-SE" sz="800" dirty="0"/>
                    <a:t>QgisKristianstad#1</a:t>
                  </a:r>
                </a:p>
              </p:txBody>
            </p:sp>
          </p:grpSp>
          <p:sp>
            <p:nvSpPr>
              <p:cNvPr id="9" name="Rektangel 8">
                <a:extLst>
                  <a:ext uri="{FF2B5EF4-FFF2-40B4-BE49-F238E27FC236}">
                    <a16:creationId xmlns:a16="http://schemas.microsoft.com/office/drawing/2014/main" id="{8CAF2DAB-00A7-E13A-4295-DEE2831823A1}"/>
                  </a:ext>
                </a:extLst>
              </p:cNvPr>
              <p:cNvSpPr/>
              <p:nvPr/>
            </p:nvSpPr>
            <p:spPr>
              <a:xfrm>
                <a:off x="10304854" y="5388077"/>
                <a:ext cx="496070" cy="249048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2C6C73C2-94E9-C709-FFC9-049480077714}"/>
                </a:ext>
              </a:extLst>
            </p:cNvPr>
            <p:cNvSpPr/>
            <p:nvPr/>
          </p:nvSpPr>
          <p:spPr>
            <a:xfrm>
              <a:off x="2703007" y="5021091"/>
              <a:ext cx="944761" cy="215444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2" name="Rektangel 11">
              <a:extLst>
                <a:ext uri="{FF2B5EF4-FFF2-40B4-BE49-F238E27FC236}">
                  <a16:creationId xmlns:a16="http://schemas.microsoft.com/office/drawing/2014/main" id="{5E331E61-AC1F-E7AF-F9D9-6ECD375CCF4B}"/>
                </a:ext>
              </a:extLst>
            </p:cNvPr>
            <p:cNvSpPr/>
            <p:nvPr/>
          </p:nvSpPr>
          <p:spPr>
            <a:xfrm>
              <a:off x="3724440" y="5021091"/>
              <a:ext cx="1048527" cy="215444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3" name="Rektangel 12">
              <a:extLst>
                <a:ext uri="{FF2B5EF4-FFF2-40B4-BE49-F238E27FC236}">
                  <a16:creationId xmlns:a16="http://schemas.microsoft.com/office/drawing/2014/main" id="{33D3A15F-CC8E-02CA-8FDD-DACC46A80963}"/>
                </a:ext>
              </a:extLst>
            </p:cNvPr>
            <p:cNvSpPr/>
            <p:nvPr/>
          </p:nvSpPr>
          <p:spPr>
            <a:xfrm>
              <a:off x="4910150" y="5021091"/>
              <a:ext cx="536057" cy="215444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4287211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CE374-71C2-C83B-EE15-1C726AD0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95C8DE7F-70E0-BD30-6BF7-9DCA171B6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4867133" cy="1170502"/>
          </a:xfrm>
        </p:spPr>
        <p:txBody>
          <a:bodyPr/>
          <a:lstStyle/>
          <a:p>
            <a:r>
              <a:rPr lang="sv-SE" dirty="0"/>
              <a:t>Lägg till ett lager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520FBE33-D4E5-88C4-E939-DDC2EAA9D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2110154"/>
            <a:ext cx="9813311" cy="3448373"/>
          </a:xfrm>
        </p:spPr>
        <p:txBody>
          <a:bodyPr/>
          <a:lstStyle/>
          <a:p>
            <a:r>
              <a:rPr lang="sv-SE" dirty="0"/>
              <a:t>Nu ska vi lägga till ett lager. Lagret som vi ska lägga till är av typen WMS och kommer från källan kkarta#1. </a:t>
            </a:r>
          </a:p>
          <a:p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”frilufts_omraden_extern#1” i fältet under ”Lager” och klicka på ”Skapa”.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Hämta det nya lagret genom att välja det i rullisten under ”Lager”.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6B6AF06-0AF0-A7D8-C415-F7D587556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7" name="Grupp 6">
            <a:extLst>
              <a:ext uri="{FF2B5EF4-FFF2-40B4-BE49-F238E27FC236}">
                <a16:creationId xmlns:a16="http://schemas.microsoft.com/office/drawing/2014/main" id="{CC2620E6-0F27-0D9F-3ED4-969CCAB4F5F2}"/>
              </a:ext>
            </a:extLst>
          </p:cNvPr>
          <p:cNvGrpSpPr/>
          <p:nvPr/>
        </p:nvGrpSpPr>
        <p:grpSpPr>
          <a:xfrm>
            <a:off x="234413" y="4218217"/>
            <a:ext cx="11723173" cy="1037070"/>
            <a:chOff x="234413" y="4218217"/>
            <a:chExt cx="11723173" cy="1037070"/>
          </a:xfrm>
        </p:grpSpPr>
        <p:pic>
          <p:nvPicPr>
            <p:cNvPr id="6" name="Bildobjekt 5" descr="En bild som visar text, linje, skärmbild&#10;&#10;AI-genererat innehåll kan vara felaktigt.">
              <a:extLst>
                <a:ext uri="{FF2B5EF4-FFF2-40B4-BE49-F238E27FC236}">
                  <a16:creationId xmlns:a16="http://schemas.microsoft.com/office/drawing/2014/main" id="{7EDC93A6-3BAA-F6DC-C24F-259C980F9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66" b="36524"/>
            <a:stretch>
              <a:fillRect/>
            </a:stretch>
          </p:blipFill>
          <p:spPr>
            <a:xfrm>
              <a:off x="234413" y="4218217"/>
              <a:ext cx="11723173" cy="1037070"/>
            </a:xfrm>
            <a:prstGeom prst="rect">
              <a:avLst/>
            </a:prstGeom>
          </p:spPr>
        </p:pic>
        <p:sp>
          <p:nvSpPr>
            <p:cNvPr id="2" name="Rektangel 1">
              <a:extLst>
                <a:ext uri="{FF2B5EF4-FFF2-40B4-BE49-F238E27FC236}">
                  <a16:creationId xmlns:a16="http://schemas.microsoft.com/office/drawing/2014/main" id="{4361313B-4790-5984-C30A-14CCA5434D55}"/>
                </a:ext>
              </a:extLst>
            </p:cNvPr>
            <p:cNvSpPr/>
            <p:nvPr/>
          </p:nvSpPr>
          <p:spPr>
            <a:xfrm>
              <a:off x="351692" y="4662434"/>
              <a:ext cx="411982" cy="803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2640654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AE76E-6747-CAB9-4D05-500764F25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3C134F81-A31C-EEEA-164E-684BBA507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1"/>
            <a:ext cx="7402760" cy="984738"/>
          </a:xfrm>
        </p:spPr>
        <p:txBody>
          <a:bodyPr/>
          <a:lstStyle/>
          <a:p>
            <a:r>
              <a:rPr lang="sv-SE" dirty="0"/>
              <a:t>Ange lagrets egenskaper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9937C951-37C1-B572-26A8-D93B2A05B4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115367"/>
            <a:ext cx="9813311" cy="376404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v-SE" dirty="0"/>
              <a:t>Sätt ”Titel” till ”Friluftsområden”.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Under ”Källa”, välj ”kkarta#1”.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Under ”Typ”, välj WMS.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därefter på knappen ”Uppdatera” för att spara och få tillgång till WMS-specifika inställningar.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Sätt fälten ”</a:t>
            </a:r>
            <a:r>
              <a:rPr lang="sv-SE" dirty="0" err="1"/>
              <a:t>Tiled</a:t>
            </a:r>
            <a:r>
              <a:rPr lang="sv-SE" dirty="0"/>
              <a:t>” och ”Klickbar” till ”t” (</a:t>
            </a:r>
            <a:r>
              <a:rPr lang="sv-SE" dirty="0" err="1"/>
              <a:t>true</a:t>
            </a:r>
            <a:r>
              <a:rPr lang="sv-SE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in ”image/</a:t>
            </a:r>
            <a:r>
              <a:rPr lang="sv-SE" dirty="0" err="1"/>
              <a:t>png</a:t>
            </a:r>
            <a:r>
              <a:rPr lang="sv-SE" dirty="0"/>
              <a:t>” i fältet ”Format”.</a:t>
            </a:r>
          </a:p>
          <a:p>
            <a:pPr marL="457200" indent="-457200">
              <a:buFont typeface="+mj-lt"/>
              <a:buAutoNum type="arabicPeriod"/>
            </a:pPr>
            <a:endParaRPr lang="sv-SE" dirty="0"/>
          </a:p>
          <a:p>
            <a:r>
              <a:rPr lang="sv-SE" dirty="0"/>
              <a:t>Övriga fält låter vi vara så länge.</a:t>
            </a:r>
          </a:p>
          <a:p>
            <a:endParaRPr lang="sv-SE" dirty="0"/>
          </a:p>
          <a:p>
            <a:r>
              <a:rPr lang="sv-SE" dirty="0">
                <a:solidFill>
                  <a:schemeClr val="tx1"/>
                </a:solidFill>
              </a:rPr>
              <a:t>Klicka på ”</a:t>
            </a:r>
            <a:r>
              <a:rPr lang="sv-SE" dirty="0">
                <a:solidFill>
                  <a:srgbClr val="C00000"/>
                </a:solidFill>
              </a:rPr>
              <a:t>Uppdatera</a:t>
            </a:r>
            <a:r>
              <a:rPr lang="sv-SE" dirty="0">
                <a:solidFill>
                  <a:schemeClr val="tx1"/>
                </a:solidFill>
              </a:rPr>
              <a:t>” och sedan ”Förhandsgranska” när du är klar.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B76ACF2B-1BC0-6DD6-D09D-5D9B7C0A2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pic>
        <p:nvPicPr>
          <p:cNvPr id="7" name="Bildobjekt 6" descr="En bild som visar text, linje, skärmbild, Parallell&#10;&#10;AI-genererat innehåll kan vara felaktigt.">
            <a:extLst>
              <a:ext uri="{FF2B5EF4-FFF2-40B4-BE49-F238E27FC236}">
                <a16:creationId xmlns:a16="http://schemas.microsoft.com/office/drawing/2014/main" id="{08860680-39F7-DE92-1573-41031704B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10" y="4336786"/>
            <a:ext cx="8015709" cy="236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300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A792E-34CC-9682-79E9-748202A65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27E261BA-A338-0216-5F5A-5E2777EDA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7041019" cy="1340900"/>
          </a:xfrm>
        </p:spPr>
        <p:txBody>
          <a:bodyPr/>
          <a:lstStyle/>
          <a:p>
            <a:r>
              <a:rPr lang="sv-SE" dirty="0"/>
              <a:t>Förhandsgranska lager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27B28FCB-9408-EC20-DDEA-158A0E3964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557496"/>
            <a:ext cx="9813311" cy="3321914"/>
          </a:xfrm>
        </p:spPr>
        <p:txBody>
          <a:bodyPr/>
          <a:lstStyle/>
          <a:p>
            <a:r>
              <a:rPr lang="sv-SE" dirty="0"/>
              <a:t>Om allt har gått bra så kan vi nu (efter lite panorering och zoomning) förhandsgranska lagret med friluftsområden i Kristianstads kommun. 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E226589-BC8E-1684-EB2A-B4E732AD4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pic>
        <p:nvPicPr>
          <p:cNvPr id="6" name="Bildobjekt 5" descr="En bild som visar karta, text, kartbok&#10;&#10;AI-genererat innehåll kan vara felaktigt.">
            <a:extLst>
              <a:ext uri="{FF2B5EF4-FFF2-40B4-BE49-F238E27FC236}">
                <a16:creationId xmlns:a16="http://schemas.microsoft.com/office/drawing/2014/main" id="{532D48BB-CC5B-C3D6-7F18-36BAC3C98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056" y="2339345"/>
            <a:ext cx="5968220" cy="406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94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CCE24-9F0F-E103-181B-BB00A50B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2A86824D-667C-BE8A-0869-84C2EBB10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4867133" cy="1125415"/>
          </a:xfrm>
        </p:spPr>
        <p:txBody>
          <a:bodyPr/>
          <a:lstStyle/>
          <a:p>
            <a:r>
              <a:rPr lang="sv-SE" dirty="0"/>
              <a:t>Kopiera ett lager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A856F8F5-C8DF-FF04-1789-1F4D91C248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304320"/>
            <a:ext cx="9813311" cy="3575089"/>
          </a:xfrm>
        </p:spPr>
        <p:txBody>
          <a:bodyPr/>
          <a:lstStyle/>
          <a:p>
            <a:r>
              <a:rPr lang="sv-SE" dirty="0"/>
              <a:t>Nu när vi har konfigurerat upp ett lager kan vi enkelt lägga till fler genom att använda ”Spara kopia”.</a:t>
            </a:r>
            <a:br>
              <a:rPr lang="sv-SE" dirty="0"/>
            </a:br>
            <a:endParaRPr lang="sv-SE" dirty="0"/>
          </a:p>
          <a:p>
            <a:pPr marL="457200" indent="-457200">
              <a:buAutoNum type="arabicPeriod"/>
            </a:pPr>
            <a:r>
              <a:rPr lang="sv-SE" dirty="0"/>
              <a:t>Hämta lagret ”frilufts_omraden_extern#1”.</a:t>
            </a:r>
          </a:p>
          <a:p>
            <a:pPr marL="457200" indent="-457200">
              <a:buAutoNum type="arabicPeriod"/>
            </a:pPr>
            <a:r>
              <a:rPr lang="sv-SE" dirty="0"/>
              <a:t>Ändra ”Id”-fältet så att det står ”markerade_stigar#1”. Klicka </a:t>
            </a:r>
            <a:r>
              <a:rPr lang="sv-SE" dirty="0">
                <a:solidFill>
                  <a:srgbClr val="C00000"/>
                </a:solidFill>
              </a:rPr>
              <a:t>INTE</a:t>
            </a:r>
            <a:r>
              <a:rPr lang="sv-SE" dirty="0"/>
              <a:t> på Uppdatera.</a:t>
            </a:r>
          </a:p>
          <a:p>
            <a:pPr marL="457200" indent="-457200">
              <a:buAutoNum type="arabicPeriod"/>
            </a:pPr>
            <a:r>
              <a:rPr lang="sv-SE" dirty="0"/>
              <a:t>Ändra ”Titel”-fältet så att det står ”Markerade stigar”. Klicka </a:t>
            </a:r>
            <a:r>
              <a:rPr lang="sv-SE" dirty="0">
                <a:solidFill>
                  <a:srgbClr val="C00000"/>
                </a:solidFill>
              </a:rPr>
              <a:t>INTE</a:t>
            </a:r>
            <a:r>
              <a:rPr lang="sv-SE" dirty="0"/>
              <a:t> på Uppdatera.</a:t>
            </a:r>
          </a:p>
          <a:p>
            <a:pPr marL="457200" indent="-457200">
              <a:buAutoNum type="arabicPeriod"/>
            </a:pPr>
            <a:r>
              <a:rPr lang="sv-SE" dirty="0"/>
              <a:t>Klicka på ”Spara kopia”.</a:t>
            </a:r>
          </a:p>
          <a:p>
            <a:pPr marL="457200" indent="-457200">
              <a:buAutoNum type="arabicPeriod"/>
            </a:pPr>
            <a:r>
              <a:rPr lang="sv-SE" dirty="0"/>
              <a:t>Hämta lagret ”markerade_stigar#1” och klicka på förhandsgranska (zooma till Kristianstad).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3F583C9F-9521-81FB-6370-E90A59C51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2" name="Grupp 11">
            <a:extLst>
              <a:ext uri="{FF2B5EF4-FFF2-40B4-BE49-F238E27FC236}">
                <a16:creationId xmlns:a16="http://schemas.microsoft.com/office/drawing/2014/main" id="{18BA4360-0884-2954-1982-9F7FAC38CB81}"/>
              </a:ext>
            </a:extLst>
          </p:cNvPr>
          <p:cNvGrpSpPr/>
          <p:nvPr/>
        </p:nvGrpSpPr>
        <p:grpSpPr>
          <a:xfrm>
            <a:off x="221617" y="4019341"/>
            <a:ext cx="9091636" cy="2682426"/>
            <a:chOff x="221617" y="4019341"/>
            <a:chExt cx="9091636" cy="2682426"/>
          </a:xfrm>
        </p:grpSpPr>
        <p:pic>
          <p:nvPicPr>
            <p:cNvPr id="2" name="Bildobjekt 1" descr="En bild som visar text, linje, skärmbild, Parallell&#10;&#10;AI-genererat innehåll kan vara felaktigt.">
              <a:extLst>
                <a:ext uri="{FF2B5EF4-FFF2-40B4-BE49-F238E27FC236}">
                  <a16:creationId xmlns:a16="http://schemas.microsoft.com/office/drawing/2014/main" id="{FBE6B182-C192-AFDB-FE1A-BD622C3C1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617" y="4019341"/>
              <a:ext cx="9091636" cy="2682426"/>
            </a:xfrm>
            <a:prstGeom prst="rect">
              <a:avLst/>
            </a:prstGeom>
          </p:spPr>
        </p:pic>
        <p:sp>
          <p:nvSpPr>
            <p:cNvPr id="6" name="textruta 5">
              <a:extLst>
                <a:ext uri="{FF2B5EF4-FFF2-40B4-BE49-F238E27FC236}">
                  <a16:creationId xmlns:a16="http://schemas.microsoft.com/office/drawing/2014/main" id="{B93C3CF2-313B-DBC0-79F7-84E75F701D8B}"/>
                </a:ext>
              </a:extLst>
            </p:cNvPr>
            <p:cNvSpPr txBox="1"/>
            <p:nvPr/>
          </p:nvSpPr>
          <p:spPr>
            <a:xfrm>
              <a:off x="381839" y="4893550"/>
              <a:ext cx="753626" cy="923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sv-SE" sz="600" dirty="0"/>
                <a:t>markerade_stigar#1</a:t>
              </a:r>
            </a:p>
          </p:txBody>
        </p:sp>
        <p:sp>
          <p:nvSpPr>
            <p:cNvPr id="8" name="textruta 7">
              <a:extLst>
                <a:ext uri="{FF2B5EF4-FFF2-40B4-BE49-F238E27FC236}">
                  <a16:creationId xmlns:a16="http://schemas.microsoft.com/office/drawing/2014/main" id="{BB7DCCB6-900C-88EF-DF71-955714D05434}"/>
                </a:ext>
              </a:extLst>
            </p:cNvPr>
            <p:cNvSpPr txBox="1"/>
            <p:nvPr/>
          </p:nvSpPr>
          <p:spPr>
            <a:xfrm>
              <a:off x="1489953" y="4893550"/>
              <a:ext cx="753626" cy="923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sv-SE" sz="600" dirty="0"/>
                <a:t>Markerade stigar</a:t>
              </a:r>
            </a:p>
          </p:txBody>
        </p:sp>
        <p:pic>
          <p:nvPicPr>
            <p:cNvPr id="7" name="Bildobjekt 6" descr="En bild som visar text, linje, skärmbild, Parallell&#10;&#10;AI-genererat innehåll kan vara felaktigt.">
              <a:extLst>
                <a:ext uri="{FF2B5EF4-FFF2-40B4-BE49-F238E27FC236}">
                  <a16:creationId xmlns:a16="http://schemas.microsoft.com/office/drawing/2014/main" id="{C1BCB061-97C7-BBBF-9B6F-B98BAABBF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4481" t="82350"/>
            <a:stretch>
              <a:fillRect/>
            </a:stretch>
          </p:blipFill>
          <p:spPr>
            <a:xfrm>
              <a:off x="5824602" y="6041023"/>
              <a:ext cx="3483635" cy="458672"/>
            </a:xfrm>
            <a:prstGeom prst="rect">
              <a:avLst/>
            </a:prstGeom>
          </p:spPr>
        </p:pic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814855F4-8345-1B83-6FB3-FC626AEDD0C3}"/>
                </a:ext>
              </a:extLst>
            </p:cNvPr>
            <p:cNvSpPr/>
            <p:nvPr/>
          </p:nvSpPr>
          <p:spPr>
            <a:xfrm>
              <a:off x="221618" y="4849265"/>
              <a:ext cx="1014330" cy="195009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5B4E502E-AE9F-1C8A-CBF0-DFB8D6774D2A}"/>
                </a:ext>
              </a:extLst>
            </p:cNvPr>
            <p:cNvSpPr/>
            <p:nvPr/>
          </p:nvSpPr>
          <p:spPr>
            <a:xfrm>
              <a:off x="1275591" y="4842211"/>
              <a:ext cx="1014330" cy="195009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62EE36C2-03D3-02F6-0D19-F97B9E1DA308}"/>
                </a:ext>
              </a:extLst>
            </p:cNvPr>
            <p:cNvSpPr/>
            <p:nvPr/>
          </p:nvSpPr>
          <p:spPr>
            <a:xfrm>
              <a:off x="7747279" y="6219928"/>
              <a:ext cx="452176" cy="180871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2105562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BE0D4-174C-3D53-F975-77FB2F322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DFEC80EE-83D7-259A-10F4-F46A098B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6126619" cy="1949380"/>
          </a:xfrm>
        </p:spPr>
        <p:txBody>
          <a:bodyPr/>
          <a:lstStyle/>
          <a:p>
            <a:r>
              <a:rPr lang="sv-SE" dirty="0"/>
              <a:t>Skapa en lagergrupp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6149290C-E6A9-A21C-AF82-F84EEB6755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2296355"/>
            <a:ext cx="9813311" cy="2583054"/>
          </a:xfrm>
        </p:spPr>
        <p:txBody>
          <a:bodyPr/>
          <a:lstStyle/>
          <a:p>
            <a:r>
              <a:rPr lang="sv-SE" dirty="0"/>
              <a:t>Nu när vi har ett par relaterade lager vill vi gruppera dem i en ny lagergrupp.</a:t>
            </a:r>
          </a:p>
          <a:p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in ”friluftsliv#1” under ”Grupp” och klicka på ”Skapa”.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Hämta den nya gruppen genom att välja den i listrutan under ”Grupp”.</a:t>
            </a:r>
            <a:br>
              <a:rPr lang="sv-SE" dirty="0"/>
            </a:br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9AE4ACF2-A5A9-A5E5-722B-F69591273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2" name="Grupp 11">
            <a:extLst>
              <a:ext uri="{FF2B5EF4-FFF2-40B4-BE49-F238E27FC236}">
                <a16:creationId xmlns:a16="http://schemas.microsoft.com/office/drawing/2014/main" id="{67F59C30-17AD-296F-C470-3176795FEF3C}"/>
              </a:ext>
            </a:extLst>
          </p:cNvPr>
          <p:cNvGrpSpPr/>
          <p:nvPr/>
        </p:nvGrpSpPr>
        <p:grpSpPr>
          <a:xfrm>
            <a:off x="420807" y="3886869"/>
            <a:ext cx="10987778" cy="982476"/>
            <a:chOff x="420807" y="3886869"/>
            <a:chExt cx="10987778" cy="982476"/>
          </a:xfrm>
        </p:grpSpPr>
        <p:pic>
          <p:nvPicPr>
            <p:cNvPr id="7" name="Bildobjekt 6" descr="En bild som visar text, linje, skärmbild, Parallell&#10;&#10;AI-genererat innehåll kan vara felaktigt.">
              <a:extLst>
                <a:ext uri="{FF2B5EF4-FFF2-40B4-BE49-F238E27FC236}">
                  <a16:creationId xmlns:a16="http://schemas.microsoft.com/office/drawing/2014/main" id="{A791E2F8-8EBE-0EC5-6FD4-9908868DB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6253"/>
            <a:stretch>
              <a:fillRect/>
            </a:stretch>
          </p:blipFill>
          <p:spPr>
            <a:xfrm>
              <a:off x="420807" y="3886869"/>
              <a:ext cx="10987778" cy="982476"/>
            </a:xfrm>
            <a:prstGeom prst="rect">
              <a:avLst/>
            </a:prstGeom>
          </p:spPr>
        </p:pic>
        <p:sp>
          <p:nvSpPr>
            <p:cNvPr id="6" name="Rektangel 5">
              <a:extLst>
                <a:ext uri="{FF2B5EF4-FFF2-40B4-BE49-F238E27FC236}">
                  <a16:creationId xmlns:a16="http://schemas.microsoft.com/office/drawing/2014/main" id="{DAE4648F-D253-C771-3A98-C0C38236DD83}"/>
                </a:ext>
              </a:extLst>
            </p:cNvPr>
            <p:cNvSpPr/>
            <p:nvPr/>
          </p:nvSpPr>
          <p:spPr>
            <a:xfrm>
              <a:off x="622997" y="4441371"/>
              <a:ext cx="713434" cy="12058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" name="textruta 7">
              <a:extLst>
                <a:ext uri="{FF2B5EF4-FFF2-40B4-BE49-F238E27FC236}">
                  <a16:creationId xmlns:a16="http://schemas.microsoft.com/office/drawing/2014/main" id="{D43C9501-4389-8214-EFE5-C42417A469FD}"/>
                </a:ext>
              </a:extLst>
            </p:cNvPr>
            <p:cNvSpPr txBox="1"/>
            <p:nvPr/>
          </p:nvSpPr>
          <p:spPr>
            <a:xfrm>
              <a:off x="5777803" y="4545254"/>
              <a:ext cx="74251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900" dirty="0"/>
                <a:t>friluftsliv#1</a:t>
              </a:r>
            </a:p>
          </p:txBody>
        </p:sp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AA63463D-8F41-BB18-1E6F-D3C63A5DFB0B}"/>
                </a:ext>
              </a:extLst>
            </p:cNvPr>
            <p:cNvSpPr/>
            <p:nvPr/>
          </p:nvSpPr>
          <p:spPr>
            <a:xfrm>
              <a:off x="5777803" y="4079630"/>
              <a:ext cx="622997" cy="150445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8A86955A-06CB-411C-608A-32604D1F00CE}"/>
                </a:ext>
              </a:extLst>
            </p:cNvPr>
            <p:cNvSpPr/>
            <p:nvPr/>
          </p:nvSpPr>
          <p:spPr>
            <a:xfrm>
              <a:off x="5784501" y="4577050"/>
              <a:ext cx="867508" cy="199036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FA8A61B4-2C88-F31C-E7BB-4F4AB6A196C5}"/>
                </a:ext>
              </a:extLst>
            </p:cNvPr>
            <p:cNvSpPr/>
            <p:nvPr/>
          </p:nvSpPr>
          <p:spPr>
            <a:xfrm>
              <a:off x="6702252" y="4585446"/>
              <a:ext cx="461350" cy="199036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1166513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793AE-A9EF-24C0-D5C8-1C9E8229C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5EAFCA5F-5C74-53FD-47EC-DDAA14B2C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8035806" cy="1250279"/>
          </a:xfrm>
        </p:spPr>
        <p:txBody>
          <a:bodyPr/>
          <a:lstStyle/>
          <a:p>
            <a:r>
              <a:rPr lang="sv-SE" dirty="0"/>
              <a:t>Ange gruppens egenskaper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32133A5B-F233-6D07-8132-0CBAA4A615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336431"/>
            <a:ext cx="7520365" cy="354297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v-SE" dirty="0"/>
              <a:t>Lägg till lagren ”markerade_stigar#1” och ”frilufts_omraden_extern#1” till gruppen med hjälp av flervalsverktyget (plus-knappen, +).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in ”Friluftsliv i Kristianstad” i fältet ”Titel”.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på ”Uppdatera” för att spara.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Förhandsgranska gruppen (zooma till Kristianstad).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040E51C-611E-8A99-4407-026AA74FF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24" name="Grupp 23">
            <a:extLst>
              <a:ext uri="{FF2B5EF4-FFF2-40B4-BE49-F238E27FC236}">
                <a16:creationId xmlns:a16="http://schemas.microsoft.com/office/drawing/2014/main" id="{F5D6EAD4-FEFE-688C-E8E4-C90871F09328}"/>
              </a:ext>
            </a:extLst>
          </p:cNvPr>
          <p:cNvGrpSpPr/>
          <p:nvPr/>
        </p:nvGrpSpPr>
        <p:grpSpPr>
          <a:xfrm>
            <a:off x="288513" y="3195779"/>
            <a:ext cx="11300584" cy="2522998"/>
            <a:chOff x="288513" y="3135491"/>
            <a:chExt cx="11300584" cy="2522998"/>
          </a:xfrm>
        </p:grpSpPr>
        <p:pic>
          <p:nvPicPr>
            <p:cNvPr id="23" name="Bildobjekt 22">
              <a:extLst>
                <a:ext uri="{FF2B5EF4-FFF2-40B4-BE49-F238E27FC236}">
                  <a16:creationId xmlns:a16="http://schemas.microsoft.com/office/drawing/2014/main" id="{7A83496C-CDF6-6C62-A486-58CC602D3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8513" y="3135491"/>
              <a:ext cx="11300584" cy="2522998"/>
            </a:xfrm>
            <a:prstGeom prst="rect">
              <a:avLst/>
            </a:prstGeom>
          </p:spPr>
        </p:pic>
        <p:sp>
          <p:nvSpPr>
            <p:cNvPr id="14" name="Rektangel 13">
              <a:extLst>
                <a:ext uri="{FF2B5EF4-FFF2-40B4-BE49-F238E27FC236}">
                  <a16:creationId xmlns:a16="http://schemas.microsoft.com/office/drawing/2014/main" id="{51E6DE18-810B-A6B7-AFDB-C3D7ED389C21}"/>
                </a:ext>
              </a:extLst>
            </p:cNvPr>
            <p:cNvSpPr/>
            <p:nvPr/>
          </p:nvSpPr>
          <p:spPr>
            <a:xfrm>
              <a:off x="3024556" y="3788230"/>
              <a:ext cx="532563" cy="200967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5" name="Rektangel 14">
              <a:extLst>
                <a:ext uri="{FF2B5EF4-FFF2-40B4-BE49-F238E27FC236}">
                  <a16:creationId xmlns:a16="http://schemas.microsoft.com/office/drawing/2014/main" id="{758A4FB7-C45A-60BB-0B5D-B6084803756A}"/>
                </a:ext>
              </a:extLst>
            </p:cNvPr>
            <p:cNvSpPr/>
            <p:nvPr/>
          </p:nvSpPr>
          <p:spPr>
            <a:xfrm>
              <a:off x="4340891" y="4869360"/>
              <a:ext cx="170821" cy="134719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6" name="Rektangel 15">
              <a:extLst>
                <a:ext uri="{FF2B5EF4-FFF2-40B4-BE49-F238E27FC236}">
                  <a16:creationId xmlns:a16="http://schemas.microsoft.com/office/drawing/2014/main" id="{3BE58EA6-D7B7-09AE-9AC8-26E1D5C29A6F}"/>
                </a:ext>
              </a:extLst>
            </p:cNvPr>
            <p:cNvSpPr/>
            <p:nvPr/>
          </p:nvSpPr>
          <p:spPr>
            <a:xfrm>
              <a:off x="7900106" y="4836235"/>
              <a:ext cx="902252" cy="222514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7" name="Rektangel 16">
              <a:extLst>
                <a:ext uri="{FF2B5EF4-FFF2-40B4-BE49-F238E27FC236}">
                  <a16:creationId xmlns:a16="http://schemas.microsoft.com/office/drawing/2014/main" id="{B913144D-2AE7-EC22-5A58-B8C0E38C5AEA}"/>
                </a:ext>
              </a:extLst>
            </p:cNvPr>
            <p:cNvSpPr/>
            <p:nvPr/>
          </p:nvSpPr>
          <p:spPr>
            <a:xfrm>
              <a:off x="9349207" y="5337349"/>
              <a:ext cx="532563" cy="200967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8" name="Rektangel 17">
              <a:extLst>
                <a:ext uri="{FF2B5EF4-FFF2-40B4-BE49-F238E27FC236}">
                  <a16:creationId xmlns:a16="http://schemas.microsoft.com/office/drawing/2014/main" id="{930DF42F-2473-6C6A-EE98-88957E5E9862}"/>
                </a:ext>
              </a:extLst>
            </p:cNvPr>
            <p:cNvSpPr/>
            <p:nvPr/>
          </p:nvSpPr>
          <p:spPr>
            <a:xfrm>
              <a:off x="10550770" y="5337348"/>
              <a:ext cx="663191" cy="200967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pic>
        <p:nvPicPr>
          <p:cNvPr id="28" name="Bildobjekt 27">
            <a:extLst>
              <a:ext uri="{FF2B5EF4-FFF2-40B4-BE49-F238E27FC236}">
                <a16:creationId xmlns:a16="http://schemas.microsoft.com/office/drawing/2014/main" id="{B9394174-1DD9-E05E-9533-5E49019C9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966" y="625139"/>
            <a:ext cx="3359608" cy="237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154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C994D-0E68-6C60-5EAF-F68D891DE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68C7D9C5-7A3A-2EAD-CF12-E6F8C5BDD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4867133" cy="2075290"/>
          </a:xfrm>
        </p:spPr>
        <p:txBody>
          <a:bodyPr/>
          <a:lstStyle/>
          <a:p>
            <a:r>
              <a:rPr lang="sv-SE" dirty="0"/>
              <a:t>Skapa en karta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E41B35B6-0F8F-6F70-EE7C-7151A0EDE8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2220058"/>
            <a:ext cx="9813311" cy="2659351"/>
          </a:xfrm>
        </p:spPr>
        <p:txBody>
          <a:bodyPr/>
          <a:lstStyle/>
          <a:p>
            <a:r>
              <a:rPr lang="sv-SE" dirty="0"/>
              <a:t>Nu ska vi skapa en ny karta för vår lagergrupp.</a:t>
            </a:r>
          </a:p>
          <a:p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in ”tutorialmap#1” i fältet under ”Karta” och klicka på ”Skapa”.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Hämta den nya kartan genom att välja den i rullisten under ”Karta”.</a:t>
            </a:r>
          </a:p>
          <a:p>
            <a:pPr marL="457200" indent="-457200">
              <a:buFont typeface="+mj-lt"/>
              <a:buAutoNum type="arabicPeriod"/>
            </a:pPr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39E279AF-4A08-4E9A-FEEF-09800599A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1" name="Grupp 10">
            <a:extLst>
              <a:ext uri="{FF2B5EF4-FFF2-40B4-BE49-F238E27FC236}">
                <a16:creationId xmlns:a16="http://schemas.microsoft.com/office/drawing/2014/main" id="{6DFE3F7B-FFD6-21AB-A668-64EF0A72DE81}"/>
              </a:ext>
            </a:extLst>
          </p:cNvPr>
          <p:cNvGrpSpPr/>
          <p:nvPr/>
        </p:nvGrpSpPr>
        <p:grpSpPr>
          <a:xfrm>
            <a:off x="329380" y="3806697"/>
            <a:ext cx="11533239" cy="1072712"/>
            <a:chOff x="329380" y="3806697"/>
            <a:chExt cx="11533239" cy="1072712"/>
          </a:xfrm>
        </p:grpSpPr>
        <p:pic>
          <p:nvPicPr>
            <p:cNvPr id="6" name="Bildobjekt 5">
              <a:extLst>
                <a:ext uri="{FF2B5EF4-FFF2-40B4-BE49-F238E27FC236}">
                  <a16:creationId xmlns:a16="http://schemas.microsoft.com/office/drawing/2014/main" id="{CD688115-9874-1240-BCEA-8985A2A74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380" y="3806697"/>
              <a:ext cx="11533239" cy="1072712"/>
            </a:xfrm>
            <a:prstGeom prst="rect">
              <a:avLst/>
            </a:prstGeom>
          </p:spPr>
        </p:pic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0ACD000B-CE8C-A44D-C25B-455D13B23296}"/>
                </a:ext>
              </a:extLst>
            </p:cNvPr>
            <p:cNvSpPr/>
            <p:nvPr/>
          </p:nvSpPr>
          <p:spPr>
            <a:xfrm>
              <a:off x="402614" y="4011084"/>
              <a:ext cx="364302" cy="17908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81A364F0-7DB7-B3BC-6704-1B55229FB23D}"/>
                </a:ext>
              </a:extLst>
            </p:cNvPr>
            <p:cNvSpPr/>
            <p:nvPr/>
          </p:nvSpPr>
          <p:spPr>
            <a:xfrm>
              <a:off x="1321357" y="4434835"/>
              <a:ext cx="462116" cy="158937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CCB0A122-0843-42DA-3B2F-36CCBEAC8C26}"/>
                </a:ext>
              </a:extLst>
            </p:cNvPr>
            <p:cNvSpPr/>
            <p:nvPr/>
          </p:nvSpPr>
          <p:spPr>
            <a:xfrm>
              <a:off x="402614" y="4414692"/>
              <a:ext cx="682608" cy="17908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4054993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B48C-7702-7CE4-4875-2F44D2E3A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F4E2FFDE-443D-55F9-C801-CB0AC0B63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7664017" cy="1208314"/>
          </a:xfrm>
        </p:spPr>
        <p:txBody>
          <a:bodyPr/>
          <a:lstStyle/>
          <a:p>
            <a:r>
              <a:rPr lang="sv-SE" dirty="0"/>
              <a:t>Ange kartans egenskaper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00FC4E28-E587-F4EB-408A-25E9C7AADA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306286"/>
            <a:ext cx="9813311" cy="3573123"/>
          </a:xfrm>
        </p:spPr>
        <p:txBody>
          <a:bodyPr/>
          <a:lstStyle/>
          <a:p>
            <a:r>
              <a:rPr lang="sv-SE" dirty="0"/>
              <a:t>När ni har hämtat den nya kartan ser ni att många fält redan är ifyllda med vanliga standardvärden, men vissa egenskaper måste vi ändra.</a:t>
            </a:r>
            <a:br>
              <a:rPr lang="sv-SE" dirty="0"/>
            </a:br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in ”Kristianstad-karta” i fältet ”Titel”.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in ”friluftsliv#1,background#1” i fältet ”Grupper” (eller använd flervalsverktyget, +). Observera att den inskrivna ordningen spelar roll.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Ändra värdet i fältet ”Mittpunkt” till ”(1575611,7564243)”.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Ändra värdet i fältet ”Zoom” till 12.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på ”Uppdatera” för att spara.</a:t>
            </a:r>
          </a:p>
          <a:p>
            <a:pPr marL="457200" indent="-457200">
              <a:buFont typeface="+mj-lt"/>
              <a:buAutoNum type="arabicPeriod"/>
            </a:pPr>
            <a:endParaRPr lang="sv-SE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98F1A9F8-0F90-D449-9152-D9CF5D937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28" y="4026595"/>
            <a:ext cx="10951028" cy="2584786"/>
          </a:xfrm>
          <a:prstGeom prst="rect">
            <a:avLst/>
          </a:prstGeom>
        </p:spPr>
      </p:pic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75A0C712-0A57-7B90-B5B5-296A8D794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87762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46159-9BE2-DE14-8EF8-A08C95B6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2BFBEC09-B3A7-758E-CF97-AB2972ED2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7533388" cy="1340900"/>
          </a:xfrm>
        </p:spPr>
        <p:txBody>
          <a:bodyPr/>
          <a:lstStyle/>
          <a:p>
            <a:r>
              <a:rPr lang="sv-SE" dirty="0"/>
              <a:t>Skriva kartkonfiguration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B6949DC-3BFC-5509-4CF2-6929F8ADB5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467294"/>
            <a:ext cx="9813311" cy="3412116"/>
          </a:xfrm>
        </p:spPr>
        <p:txBody>
          <a:bodyPr/>
          <a:lstStyle/>
          <a:p>
            <a:r>
              <a:rPr lang="sv-SE" dirty="0"/>
              <a:t>Nu har vi konfigurerat upp en ny karta och vi kan förhandsgranska den genom att klicka på ”Förhandsgranska”, dock är kartan ännu inte publicerad.</a:t>
            </a:r>
          </a:p>
          <a:p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på knappen ”Skriv kartkonfiguration” för att publicera kartan.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på OK i </a:t>
            </a:r>
            <a:r>
              <a:rPr lang="sv-SE" dirty="0" err="1"/>
              <a:t>popup</a:t>
            </a:r>
            <a:r>
              <a:rPr lang="sv-SE" dirty="0"/>
              <a:t>-rutan för att bekräfta att du vill skriva över eventuell befintlig kartkonfiguration.</a:t>
            </a:r>
          </a:p>
          <a:p>
            <a:endParaRPr lang="sv-SE" dirty="0"/>
          </a:p>
          <a:p>
            <a:r>
              <a:rPr lang="sv-SE" dirty="0"/>
              <a:t>Kartan är nu publicerad. Öppna kartan genom att klicka på ”Öppna karta”.</a:t>
            </a:r>
            <a:br>
              <a:rPr lang="sv-SE" dirty="0"/>
            </a:br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01ABCA5-CCE2-ABD8-117C-DA904E6CE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0" name="Grupp 9">
            <a:extLst>
              <a:ext uri="{FF2B5EF4-FFF2-40B4-BE49-F238E27FC236}">
                <a16:creationId xmlns:a16="http://schemas.microsoft.com/office/drawing/2014/main" id="{59C2061F-4E1C-67DE-82E3-D13657044D84}"/>
              </a:ext>
            </a:extLst>
          </p:cNvPr>
          <p:cNvGrpSpPr/>
          <p:nvPr/>
        </p:nvGrpSpPr>
        <p:grpSpPr>
          <a:xfrm>
            <a:off x="971646" y="3809130"/>
            <a:ext cx="9224977" cy="2140559"/>
            <a:chOff x="971646" y="3809130"/>
            <a:chExt cx="9224977" cy="2140559"/>
          </a:xfrm>
        </p:grpSpPr>
        <p:pic>
          <p:nvPicPr>
            <p:cNvPr id="6" name="Bildobjekt 5">
              <a:extLst>
                <a:ext uri="{FF2B5EF4-FFF2-40B4-BE49-F238E27FC236}">
                  <a16:creationId xmlns:a16="http://schemas.microsoft.com/office/drawing/2014/main" id="{7C8B3F5A-1325-7709-52C1-34D576478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1646" y="3809130"/>
              <a:ext cx="9217906" cy="2140559"/>
            </a:xfrm>
            <a:prstGeom prst="rect">
              <a:avLst/>
            </a:prstGeom>
          </p:spPr>
        </p:pic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A94072C1-CD65-8C5D-C71C-4A93488E8A58}"/>
                </a:ext>
              </a:extLst>
            </p:cNvPr>
            <p:cNvSpPr/>
            <p:nvPr/>
          </p:nvSpPr>
          <p:spPr>
            <a:xfrm>
              <a:off x="9771321" y="5688683"/>
              <a:ext cx="425302" cy="19112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FFF082B9-4F74-CC54-6658-B3F854590761}"/>
                </a:ext>
              </a:extLst>
            </p:cNvPr>
            <p:cNvSpPr/>
            <p:nvPr/>
          </p:nvSpPr>
          <p:spPr>
            <a:xfrm>
              <a:off x="8515268" y="5688683"/>
              <a:ext cx="836915" cy="19112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2763197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ECBA-B0BF-E570-76E1-6D43EB6D3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906F83E1-AEE1-E11A-E7FB-2E583326A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6498408" cy="1340900"/>
          </a:xfrm>
        </p:spPr>
        <p:txBody>
          <a:bodyPr/>
          <a:lstStyle/>
          <a:p>
            <a:r>
              <a:rPr lang="sv-SE" dirty="0"/>
              <a:t>Öppna Info-verktyget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EAE288CA-0685-C95D-0081-335127E359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577592"/>
            <a:ext cx="9813311" cy="3301818"/>
          </a:xfrm>
        </p:spPr>
        <p:txBody>
          <a:bodyPr/>
          <a:lstStyle/>
          <a:p>
            <a:r>
              <a:rPr lang="sv-SE" dirty="0"/>
              <a:t>En av kontrollerna som följde med bland standardinställningarna när vi skapade den nya kartan var sharemap#1-kontrollen. Vi kan kontrollera i vilka kartor som kontrollen används genom att använda Info-verktyget.</a:t>
            </a:r>
            <a:br>
              <a:rPr lang="sv-SE" dirty="0"/>
            </a:br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Hämta sharemap#1-kontrollen.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på ”Info” för att öppna Info-verktyget.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46E0743D-6D60-CEFE-C649-76AD19CE4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6" name="Grupp 5">
            <a:extLst>
              <a:ext uri="{FF2B5EF4-FFF2-40B4-BE49-F238E27FC236}">
                <a16:creationId xmlns:a16="http://schemas.microsoft.com/office/drawing/2014/main" id="{D1F61DB4-4E99-5485-5911-88434988F6B7}"/>
              </a:ext>
            </a:extLst>
          </p:cNvPr>
          <p:cNvGrpSpPr/>
          <p:nvPr/>
        </p:nvGrpSpPr>
        <p:grpSpPr>
          <a:xfrm>
            <a:off x="575710" y="3485201"/>
            <a:ext cx="9327688" cy="2599252"/>
            <a:chOff x="575710" y="3485201"/>
            <a:chExt cx="9327688" cy="2599252"/>
          </a:xfrm>
        </p:grpSpPr>
        <p:pic>
          <p:nvPicPr>
            <p:cNvPr id="7" name="Bildobjekt 6" descr="En bild som visar text, skärmbild, programvara, Multimedieprogram&#10;&#10;AI-genererat innehåll kan vara felaktigt.">
              <a:extLst>
                <a:ext uri="{FF2B5EF4-FFF2-40B4-BE49-F238E27FC236}">
                  <a16:creationId xmlns:a16="http://schemas.microsoft.com/office/drawing/2014/main" id="{3DF29353-B417-CD27-D162-805535E47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5154"/>
            <a:stretch>
              <a:fillRect/>
            </a:stretch>
          </p:blipFill>
          <p:spPr>
            <a:xfrm>
              <a:off x="575710" y="3485201"/>
              <a:ext cx="9327688" cy="2599252"/>
            </a:xfrm>
            <a:prstGeom prst="rect">
              <a:avLst/>
            </a:prstGeom>
          </p:spPr>
        </p:pic>
        <p:sp>
          <p:nvSpPr>
            <p:cNvPr id="2" name="Rektangel 1">
              <a:extLst>
                <a:ext uri="{FF2B5EF4-FFF2-40B4-BE49-F238E27FC236}">
                  <a16:creationId xmlns:a16="http://schemas.microsoft.com/office/drawing/2014/main" id="{A3327DCD-8220-B4AF-0FAD-9BAF1C0E1AD3}"/>
                </a:ext>
              </a:extLst>
            </p:cNvPr>
            <p:cNvSpPr/>
            <p:nvPr/>
          </p:nvSpPr>
          <p:spPr>
            <a:xfrm>
              <a:off x="9309015" y="5265336"/>
              <a:ext cx="287163" cy="23111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3514169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60C4B-7BA8-934F-8030-814B9BAE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B273CAAA-8F13-7966-A171-AE14208C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6498408" cy="1929284"/>
          </a:xfrm>
        </p:spPr>
        <p:txBody>
          <a:bodyPr/>
          <a:lstStyle/>
          <a:p>
            <a:r>
              <a:rPr lang="sv-SE" dirty="0"/>
              <a:t>Använda Info-verktyget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101DCA72-AF56-F397-F2B3-CE366A3816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2170444"/>
            <a:ext cx="9813311" cy="2708966"/>
          </a:xfrm>
        </p:spPr>
        <p:txBody>
          <a:bodyPr/>
          <a:lstStyle/>
          <a:p>
            <a:r>
              <a:rPr lang="sv-SE" dirty="0"/>
              <a:t>I Info-verktyget visas befintliga relationer mellan kartor, kontroller, grupper, lager etc. </a:t>
            </a:r>
          </a:p>
          <a:p>
            <a:endParaRPr lang="sv-SE" dirty="0"/>
          </a:p>
          <a:p>
            <a:r>
              <a:rPr lang="sv-SE" dirty="0"/>
              <a:t>Vi kan se att sharemap#1-kontrollen används av tre kartor: demokarta, </a:t>
            </a:r>
            <a:r>
              <a:rPr lang="sv-SE" dirty="0" err="1"/>
              <a:t>preview</a:t>
            </a:r>
            <a:r>
              <a:rPr lang="sv-SE" dirty="0"/>
              <a:t> och tutorialmap#1.</a:t>
            </a:r>
          </a:p>
          <a:p>
            <a:endParaRPr lang="sv-SE" dirty="0"/>
          </a:p>
          <a:p>
            <a:r>
              <a:rPr lang="sv-SE" dirty="0"/>
              <a:t>Man kan navigera mellan de olika relationerna i Info-verktyget. Prova att klicka på de olika kart-länkarna samt knapparna ”Tillbaks”, ”Administrera” och ”Stäng”.</a:t>
            </a:r>
          </a:p>
          <a:p>
            <a:endParaRPr lang="sv-SE" dirty="0"/>
          </a:p>
          <a:p>
            <a:pPr marL="457200" indent="-457200">
              <a:buFont typeface="+mj-lt"/>
              <a:buAutoNum type="arabicPeriod"/>
            </a:pPr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752AB44D-1783-7082-F16C-9F5EA2605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817DE07A-E457-349C-592C-9F01193AF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04" y="4600769"/>
            <a:ext cx="5199056" cy="143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676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4D5BA-5F41-61B3-0001-815A14DCB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F49AA68E-A344-7BF0-7396-709D02A15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-1"/>
            <a:ext cx="6397924" cy="1836767"/>
          </a:xfrm>
        </p:spPr>
        <p:txBody>
          <a:bodyPr/>
          <a:lstStyle/>
          <a:p>
            <a:r>
              <a:rPr lang="sv-SE" dirty="0"/>
              <a:t>Hantera </a:t>
            </a:r>
            <a:r>
              <a:rPr lang="sv-SE" dirty="0" err="1"/>
              <a:t>mapstates</a:t>
            </a: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F6DF1691-231C-A266-D62F-ED0F6137EC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5" y="1949380"/>
            <a:ext cx="8010634" cy="2930030"/>
          </a:xfrm>
        </p:spPr>
        <p:txBody>
          <a:bodyPr/>
          <a:lstStyle/>
          <a:p>
            <a:r>
              <a:rPr lang="sv-SE" dirty="0"/>
              <a:t>Sharemap#1-kontrollen gör det möjligt för användare att dela en ögonblicksbild av en karta via en </a:t>
            </a:r>
            <a:r>
              <a:rPr lang="sv-SE" dirty="0" err="1"/>
              <a:t>url</a:t>
            </a:r>
            <a:r>
              <a:rPr lang="sv-SE" dirty="0"/>
              <a:t>. Detta sker när man klickar på ”Dela karta” i Origos kartmeny. Dessa ögonblicksbilder eller ”</a:t>
            </a:r>
            <a:r>
              <a:rPr lang="sv-SE" dirty="0" err="1"/>
              <a:t>mapstates</a:t>
            </a:r>
            <a:r>
              <a:rPr lang="sv-SE" dirty="0"/>
              <a:t>” sparas på servern och kan administreras under ”Extra”-vyn.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2CE5DE0-548C-8E50-052B-2744CF022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D8B5E6DE-2D14-CFCC-66B1-D9214FA94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2" y="3576952"/>
            <a:ext cx="11488615" cy="2076068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909001AA-B106-AFAD-415B-B56DA5014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619" y="1204980"/>
            <a:ext cx="2600688" cy="2143424"/>
          </a:xfrm>
          <a:prstGeom prst="rect">
            <a:avLst/>
          </a:prstGeom>
        </p:spPr>
      </p:pic>
      <p:sp>
        <p:nvSpPr>
          <p:cNvPr id="10" name="Rektangel 9">
            <a:extLst>
              <a:ext uri="{FF2B5EF4-FFF2-40B4-BE49-F238E27FC236}">
                <a16:creationId xmlns:a16="http://schemas.microsoft.com/office/drawing/2014/main" id="{6997118D-B3B9-0BEA-46DF-54B6BB1D8391}"/>
              </a:ext>
            </a:extLst>
          </p:cNvPr>
          <p:cNvSpPr/>
          <p:nvPr/>
        </p:nvSpPr>
        <p:spPr>
          <a:xfrm>
            <a:off x="9716756" y="1806622"/>
            <a:ext cx="1326382" cy="2834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7964BC75-C7C4-B531-2598-C5AE64FD9EBA}"/>
              </a:ext>
            </a:extLst>
          </p:cNvPr>
          <p:cNvSpPr/>
          <p:nvPr/>
        </p:nvSpPr>
        <p:spPr>
          <a:xfrm>
            <a:off x="2331217" y="3576952"/>
            <a:ext cx="462225" cy="2834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9D59833E-BB67-BD06-B67D-2D8A2B36BA15}"/>
              </a:ext>
            </a:extLst>
          </p:cNvPr>
          <p:cNvSpPr/>
          <p:nvPr/>
        </p:nvSpPr>
        <p:spPr>
          <a:xfrm>
            <a:off x="422031" y="3860388"/>
            <a:ext cx="733529" cy="1890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2554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F8CCA-1C7D-62FC-CADE-A83E986BA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D4B427CA-94B4-33C8-7C89-5AF8D1176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6970680" cy="1406769"/>
          </a:xfrm>
        </p:spPr>
        <p:txBody>
          <a:bodyPr/>
          <a:lstStyle/>
          <a:p>
            <a:r>
              <a:rPr lang="sv-SE" dirty="0"/>
              <a:t>Lägga till plugin till karta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06172ED8-F7DC-D0AD-9E65-36F428E843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547447"/>
            <a:ext cx="9813311" cy="3331964"/>
          </a:xfrm>
        </p:spPr>
        <p:txBody>
          <a:bodyPr/>
          <a:lstStyle/>
          <a:p>
            <a:r>
              <a:rPr lang="sv-SE" dirty="0"/>
              <a:t>Origo-</a:t>
            </a:r>
            <a:r>
              <a:rPr lang="sv-SE" dirty="0" err="1"/>
              <a:t>plugins</a:t>
            </a:r>
            <a:r>
              <a:rPr lang="sv-SE" dirty="0"/>
              <a:t> kan konfigureras och kopplas till kartor med hjälp av </a:t>
            </a:r>
            <a:r>
              <a:rPr lang="sv-SE" dirty="0" err="1"/>
              <a:t>adminverktyget</a:t>
            </a:r>
            <a:r>
              <a:rPr lang="sv-SE" dirty="0"/>
              <a:t>, några kommer med verktyget som standard.</a:t>
            </a:r>
          </a:p>
          <a:p>
            <a:endParaRPr lang="sv-SE" dirty="0"/>
          </a:p>
          <a:p>
            <a:r>
              <a:rPr lang="sv-SE" dirty="0"/>
              <a:t>Nu ska vi lägga till lagerfavorit-</a:t>
            </a:r>
            <a:r>
              <a:rPr lang="sv-SE" dirty="0" err="1"/>
              <a:t>pluginet</a:t>
            </a:r>
            <a:r>
              <a:rPr lang="sv-SE" dirty="0"/>
              <a:t> till kartan som vi nyss skapade. Lagerfavorit-</a:t>
            </a:r>
            <a:r>
              <a:rPr lang="sv-SE" dirty="0" err="1"/>
              <a:t>pluginet</a:t>
            </a:r>
            <a:r>
              <a:rPr lang="sv-SE" dirty="0"/>
              <a:t> kräver ingen egen konfiguration, så processen är enkel.</a:t>
            </a:r>
          </a:p>
          <a:p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Hämta ”layerfavorites#1” under ”Plugin”.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Välj ”tutorialmap#1” i listan till vänster om knappen ”Lägg till i karta”.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på ”Lägg till i karta”.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0B686BDC-F2C5-1AC5-3F81-1480D2BA8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2" name="Grupp 11">
            <a:extLst>
              <a:ext uri="{FF2B5EF4-FFF2-40B4-BE49-F238E27FC236}">
                <a16:creationId xmlns:a16="http://schemas.microsoft.com/office/drawing/2014/main" id="{6667443F-3B29-3BEC-A49D-1E418C218C83}"/>
              </a:ext>
            </a:extLst>
          </p:cNvPr>
          <p:cNvGrpSpPr/>
          <p:nvPr/>
        </p:nvGrpSpPr>
        <p:grpSpPr>
          <a:xfrm>
            <a:off x="462225" y="4239737"/>
            <a:ext cx="8802356" cy="2301262"/>
            <a:chOff x="462225" y="4400505"/>
            <a:chExt cx="8802356" cy="2301262"/>
          </a:xfrm>
        </p:grpSpPr>
        <p:pic>
          <p:nvPicPr>
            <p:cNvPr id="7" name="Bildobjekt 6">
              <a:extLst>
                <a:ext uri="{FF2B5EF4-FFF2-40B4-BE49-F238E27FC236}">
                  <a16:creationId xmlns:a16="http://schemas.microsoft.com/office/drawing/2014/main" id="{D2010382-599A-2512-32AB-5824539DE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2636" r="15359"/>
            <a:stretch>
              <a:fillRect/>
            </a:stretch>
          </p:blipFill>
          <p:spPr>
            <a:xfrm>
              <a:off x="462225" y="4400505"/>
              <a:ext cx="8802356" cy="2301262"/>
            </a:xfrm>
            <a:prstGeom prst="rect">
              <a:avLst/>
            </a:prstGeom>
          </p:spPr>
        </p:pic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D6A66B1B-2812-5952-F55B-79ACD9A19B0F}"/>
                </a:ext>
              </a:extLst>
            </p:cNvPr>
            <p:cNvSpPr/>
            <p:nvPr/>
          </p:nvSpPr>
          <p:spPr>
            <a:xfrm>
              <a:off x="522515" y="4521758"/>
              <a:ext cx="1105319" cy="377748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81926C2F-F8AB-C4AD-B081-1839B25772C3}"/>
                </a:ext>
              </a:extLst>
            </p:cNvPr>
            <p:cNvSpPr/>
            <p:nvPr/>
          </p:nvSpPr>
          <p:spPr>
            <a:xfrm>
              <a:off x="462225" y="6461089"/>
              <a:ext cx="1165609" cy="240678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D24D2625-83CC-45EE-4EC3-5FAAE92492C1}"/>
                </a:ext>
              </a:extLst>
            </p:cNvPr>
            <p:cNvSpPr/>
            <p:nvPr/>
          </p:nvSpPr>
          <p:spPr>
            <a:xfrm>
              <a:off x="1627834" y="6461089"/>
              <a:ext cx="753625" cy="240678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1062866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C60B5-55B3-6129-611B-5B32E1AC0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51332A9E-C80C-751F-2DAE-90429BD4D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8" y="0"/>
            <a:ext cx="9955041" cy="1406769"/>
          </a:xfrm>
        </p:spPr>
        <p:txBody>
          <a:bodyPr/>
          <a:lstStyle/>
          <a:p>
            <a:r>
              <a:rPr lang="sv-SE" dirty="0"/>
              <a:t>Kom ihåg att skriva kartkonfiguration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F900A89C-A5D5-5120-6930-6A6C3FF2C9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547447"/>
            <a:ext cx="9813311" cy="3331964"/>
          </a:xfrm>
        </p:spPr>
        <p:txBody>
          <a:bodyPr/>
          <a:lstStyle/>
          <a:p>
            <a:r>
              <a:rPr lang="sv-SE" dirty="0"/>
              <a:t>När det gjorts ändringar i en karta eller något som används av kartan, såsom tjänst, källa, grupp, lager </a:t>
            </a:r>
            <a:r>
              <a:rPr lang="sv-SE" dirty="0" err="1"/>
              <a:t>etc</a:t>
            </a:r>
            <a:r>
              <a:rPr lang="sv-SE" dirty="0"/>
              <a:t>, behöver kartkonfigurationen skrivas om för att ändringarna ska slå igenom i den publicerade kartan. Detta gör man genom att hämta kartan och klicka på ”Skriv kartkonfiguration”. </a:t>
            </a:r>
          </a:p>
          <a:p>
            <a:endParaRPr lang="sv-SE" dirty="0"/>
          </a:p>
          <a:p>
            <a:r>
              <a:rPr lang="sv-SE" dirty="0">
                <a:solidFill>
                  <a:srgbClr val="C00000"/>
                </a:solidFill>
              </a:rPr>
              <a:t>Man bör dock ta för vana att alltid kontrollera med en förhandsgranskning innan man skriver över en befintlig kartkonfiguration.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61DFC6F5-B90D-7A88-46F6-293C86C05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60DC8A30-2F8A-6061-48F8-FABF4EE5D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999" y="3729877"/>
            <a:ext cx="8303809" cy="2971889"/>
          </a:xfrm>
          <a:prstGeom prst="rect">
            <a:avLst/>
          </a:prstGeom>
        </p:spPr>
      </p:pic>
      <p:sp>
        <p:nvSpPr>
          <p:cNvPr id="9" name="Rektangel 8">
            <a:extLst>
              <a:ext uri="{FF2B5EF4-FFF2-40B4-BE49-F238E27FC236}">
                <a16:creationId xmlns:a16="http://schemas.microsoft.com/office/drawing/2014/main" id="{D75DEC0B-4EBF-60AF-8754-8CBC3349542B}"/>
              </a:ext>
            </a:extLst>
          </p:cNvPr>
          <p:cNvSpPr/>
          <p:nvPr/>
        </p:nvSpPr>
        <p:spPr>
          <a:xfrm>
            <a:off x="7388459" y="6432698"/>
            <a:ext cx="818707" cy="2690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2B431CDF-536C-6B09-EC74-7CD3E54F7D32}"/>
              </a:ext>
            </a:extLst>
          </p:cNvPr>
          <p:cNvSpPr/>
          <p:nvPr/>
        </p:nvSpPr>
        <p:spPr>
          <a:xfrm>
            <a:off x="6722347" y="6432698"/>
            <a:ext cx="666112" cy="2690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AB984136-C77E-16AF-F617-18A3BD27173B}"/>
              </a:ext>
            </a:extLst>
          </p:cNvPr>
          <p:cNvSpPr/>
          <p:nvPr/>
        </p:nvSpPr>
        <p:spPr>
          <a:xfrm>
            <a:off x="1006791" y="3888713"/>
            <a:ext cx="932541" cy="3818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55517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A36D2-D737-D6E0-FB12-4C019E48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FA048D0F-57B4-E7A5-B2DE-3A29BFE4D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7315673" cy="754333"/>
          </a:xfrm>
        </p:spPr>
        <p:txBody>
          <a:bodyPr/>
          <a:lstStyle/>
          <a:p>
            <a:r>
              <a:rPr lang="sv-SE" dirty="0"/>
              <a:t>Den publicerade kartan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B5B3EC4F-3E6E-89FC-5A8A-BD05AD453A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sv-S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5C2A853-7FF1-2280-9C8A-A662BD6FA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7598FC3A-4C13-16E4-AC73-5D1A0C5AE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573" y="1548769"/>
            <a:ext cx="6158854" cy="515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14419"/>
      </p:ext>
    </p:extLst>
  </p:cSld>
  <p:clrMapOvr>
    <a:masterClrMapping/>
  </p:clrMapOvr>
</p:sld>
</file>

<file path=ppt/theme/theme1.xml><?xml version="1.0" encoding="utf-8"?>
<a:theme xmlns:a="http://schemas.openxmlformats.org/drawingml/2006/main" name="Kristianstads kommun 2024 blå">
  <a:themeElements>
    <a:clrScheme name="Kristianstads kommun 2023">
      <a:dk1>
        <a:sysClr val="windowText" lastClr="000000"/>
      </a:dk1>
      <a:lt1>
        <a:sysClr val="window" lastClr="FFFFFF"/>
      </a:lt1>
      <a:dk2>
        <a:srgbClr val="19486E"/>
      </a:dk2>
      <a:lt2>
        <a:srgbClr val="00968F"/>
      </a:lt2>
      <a:accent1>
        <a:srgbClr val="37731E"/>
      </a:accent1>
      <a:accent2>
        <a:srgbClr val="E5CC4E"/>
      </a:accent2>
      <a:accent3>
        <a:srgbClr val="E08524"/>
      </a:accent3>
      <a:accent4>
        <a:srgbClr val="494946"/>
      </a:accent4>
      <a:accent5>
        <a:srgbClr val="71C4EB"/>
      </a:accent5>
      <a:accent6>
        <a:srgbClr val="B2D27E"/>
      </a:accent6>
      <a:hlink>
        <a:srgbClr val="19486E"/>
      </a:hlink>
      <a:folHlink>
        <a:srgbClr val="00968F"/>
      </a:folHlink>
    </a:clrScheme>
    <a:fontScheme name="KRKO2024">
      <a:majorFont>
        <a:latin typeface="Franklin Gothic Demi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ristianstads kommun 2024 Ver4" id="{C2871085-8FEF-4612-AEDF-CA3DE6BC7922}" vid="{1BC74470-174D-4DF7-934C-3BA1A963487C}"/>
    </a:ext>
  </a:extLst>
</a:theme>
</file>

<file path=ppt/theme/theme2.xml><?xml version="1.0" encoding="utf-8"?>
<a:theme xmlns:a="http://schemas.openxmlformats.org/drawingml/2006/main" name="Kristianstads kommun 2024 Turkos">
  <a:themeElements>
    <a:clrScheme name="Kristianstads kommun 2023">
      <a:dk1>
        <a:sysClr val="windowText" lastClr="000000"/>
      </a:dk1>
      <a:lt1>
        <a:sysClr val="window" lastClr="FFFFFF"/>
      </a:lt1>
      <a:dk2>
        <a:srgbClr val="19486E"/>
      </a:dk2>
      <a:lt2>
        <a:srgbClr val="00968F"/>
      </a:lt2>
      <a:accent1>
        <a:srgbClr val="37731E"/>
      </a:accent1>
      <a:accent2>
        <a:srgbClr val="E5CC4E"/>
      </a:accent2>
      <a:accent3>
        <a:srgbClr val="E08524"/>
      </a:accent3>
      <a:accent4>
        <a:srgbClr val="494946"/>
      </a:accent4>
      <a:accent5>
        <a:srgbClr val="71C4EB"/>
      </a:accent5>
      <a:accent6>
        <a:srgbClr val="B2D27E"/>
      </a:accent6>
      <a:hlink>
        <a:srgbClr val="19486E"/>
      </a:hlink>
      <a:folHlink>
        <a:srgbClr val="00968F"/>
      </a:folHlink>
    </a:clrScheme>
    <a:fontScheme name="KRKO2024">
      <a:majorFont>
        <a:latin typeface="Franklin Gothic Demi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ristianstads kommun 2024 Ver4" id="{C2871085-8FEF-4612-AEDF-CA3DE6BC7922}" vid="{8711B00B-3EED-4369-AA83-E1FA9C2A20B6}"/>
    </a:ext>
  </a:extLst>
</a:theme>
</file>

<file path=ppt/theme/theme3.xml><?xml version="1.0" encoding="utf-8"?>
<a:theme xmlns:a="http://schemas.openxmlformats.org/drawingml/2006/main" name="Kristianstads kommun 2024 Grön">
  <a:themeElements>
    <a:clrScheme name="Kristianstads kommun 2023">
      <a:dk1>
        <a:sysClr val="windowText" lastClr="000000"/>
      </a:dk1>
      <a:lt1>
        <a:sysClr val="window" lastClr="FFFFFF"/>
      </a:lt1>
      <a:dk2>
        <a:srgbClr val="19486E"/>
      </a:dk2>
      <a:lt2>
        <a:srgbClr val="00968F"/>
      </a:lt2>
      <a:accent1>
        <a:srgbClr val="37731E"/>
      </a:accent1>
      <a:accent2>
        <a:srgbClr val="E5CC4E"/>
      </a:accent2>
      <a:accent3>
        <a:srgbClr val="E08524"/>
      </a:accent3>
      <a:accent4>
        <a:srgbClr val="494946"/>
      </a:accent4>
      <a:accent5>
        <a:srgbClr val="71C4EB"/>
      </a:accent5>
      <a:accent6>
        <a:srgbClr val="B2D27E"/>
      </a:accent6>
      <a:hlink>
        <a:srgbClr val="19486E"/>
      </a:hlink>
      <a:folHlink>
        <a:srgbClr val="00968F"/>
      </a:folHlink>
    </a:clrScheme>
    <a:fontScheme name="KRKO2024">
      <a:majorFont>
        <a:latin typeface="Franklin Gothic Demi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ristianstads kommun 2024 Ver4" id="{C2871085-8FEF-4612-AEDF-CA3DE6BC7922}" vid="{67E6ACE3-5865-46C2-BFE1-B5496B27BBCC}"/>
    </a:ext>
  </a:extLst>
</a:theme>
</file>

<file path=ppt/theme/theme4.xml><?xml version="1.0" encoding="utf-8"?>
<a:theme xmlns:a="http://schemas.openxmlformats.org/drawingml/2006/main" name="Kristianstads kommun 2024 Orange">
  <a:themeElements>
    <a:clrScheme name="Kristianstads kommun 2023">
      <a:dk1>
        <a:sysClr val="windowText" lastClr="000000"/>
      </a:dk1>
      <a:lt1>
        <a:sysClr val="window" lastClr="FFFFFF"/>
      </a:lt1>
      <a:dk2>
        <a:srgbClr val="19486E"/>
      </a:dk2>
      <a:lt2>
        <a:srgbClr val="00968F"/>
      </a:lt2>
      <a:accent1>
        <a:srgbClr val="37731E"/>
      </a:accent1>
      <a:accent2>
        <a:srgbClr val="E5CC4E"/>
      </a:accent2>
      <a:accent3>
        <a:srgbClr val="E08524"/>
      </a:accent3>
      <a:accent4>
        <a:srgbClr val="494946"/>
      </a:accent4>
      <a:accent5>
        <a:srgbClr val="71C4EB"/>
      </a:accent5>
      <a:accent6>
        <a:srgbClr val="B2D27E"/>
      </a:accent6>
      <a:hlink>
        <a:srgbClr val="19486E"/>
      </a:hlink>
      <a:folHlink>
        <a:srgbClr val="00968F"/>
      </a:folHlink>
    </a:clrScheme>
    <a:fontScheme name="KRKO2024">
      <a:majorFont>
        <a:latin typeface="Franklin Gothic Demi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ristianstads kommun 2024 Ver4" id="{C2871085-8FEF-4612-AEDF-CA3DE6BC7922}" vid="{9A5364D5-8E60-498F-BDBB-AC0A8813D68C}"/>
    </a:ext>
  </a:extLst>
</a:theme>
</file>

<file path=ppt/theme/theme5.xml><?xml version="1.0" encoding="utf-8"?>
<a:theme xmlns:a="http://schemas.openxmlformats.org/drawingml/2006/main" name="Kristianstads kommun 2024 Varmgrå">
  <a:themeElements>
    <a:clrScheme name="Kristianstads kommun 2023">
      <a:dk1>
        <a:sysClr val="windowText" lastClr="000000"/>
      </a:dk1>
      <a:lt1>
        <a:sysClr val="window" lastClr="FFFFFF"/>
      </a:lt1>
      <a:dk2>
        <a:srgbClr val="19486E"/>
      </a:dk2>
      <a:lt2>
        <a:srgbClr val="00968F"/>
      </a:lt2>
      <a:accent1>
        <a:srgbClr val="37731E"/>
      </a:accent1>
      <a:accent2>
        <a:srgbClr val="E5CC4E"/>
      </a:accent2>
      <a:accent3>
        <a:srgbClr val="E08524"/>
      </a:accent3>
      <a:accent4>
        <a:srgbClr val="494946"/>
      </a:accent4>
      <a:accent5>
        <a:srgbClr val="71C4EB"/>
      </a:accent5>
      <a:accent6>
        <a:srgbClr val="B2D27E"/>
      </a:accent6>
      <a:hlink>
        <a:srgbClr val="19486E"/>
      </a:hlink>
      <a:folHlink>
        <a:srgbClr val="00968F"/>
      </a:folHlink>
    </a:clrScheme>
    <a:fontScheme name="KRKO2024">
      <a:majorFont>
        <a:latin typeface="Franklin Gothic Demi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ristianstads kommun 2024 Ver4" id="{C2871085-8FEF-4612-AEDF-CA3DE6BC7922}" vid="{0D316D5C-D4E0-46B5-8354-31E0E4861E47}"/>
    </a:ext>
  </a:extLst>
</a:theme>
</file>

<file path=ppt/theme/theme6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F93C0C5EE7F83438D3374EF6FC6CFE8" ma:contentTypeVersion="6" ma:contentTypeDescription="Skapa ett nytt dokument." ma:contentTypeScope="" ma:versionID="47a8963a7c37e56dddba9289e5978949">
  <xsd:schema xmlns:xsd="http://www.w3.org/2001/XMLSchema" xmlns:xs="http://www.w3.org/2001/XMLSchema" xmlns:p="http://schemas.microsoft.com/office/2006/metadata/properties" xmlns:ns2="630a2048-6a54-4210-bba6-95b147291d33" xmlns:ns3="43cfa058-710b-45d5-80d9-51034d8b2dca" targetNamespace="http://schemas.microsoft.com/office/2006/metadata/properties" ma:root="true" ma:fieldsID="3eb248da3570b7edd177235fee2ed6f5" ns2:_="" ns3:_="">
    <xsd:import namespace="630a2048-6a54-4210-bba6-95b147291d33"/>
    <xsd:import namespace="43cfa058-710b-45d5-80d9-51034d8b2d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0a2048-6a54-4210-bba6-95b147291d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fa058-710b-45d5-80d9-51034d8b2dc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8E68E51-B06E-4E0F-ABEE-C754E00215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7087E6-7CF9-4CCE-84CA-97F5AB54E1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0a2048-6a54-4210-bba6-95b147291d33"/>
    <ds:schemaRef ds:uri="43cfa058-710b-45d5-80d9-51034d8b2d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83C3FF3-C4B2-4E0C-A8BA-FDE126DD742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Powerpoint, mall</Template>
  <TotalTime>6089</TotalTime>
  <Words>1583</Words>
  <Application>Microsoft Office PowerPoint</Application>
  <PresentationFormat>Bredbild</PresentationFormat>
  <Paragraphs>138</Paragraphs>
  <Slides>26</Slides>
  <Notes>2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5</vt:i4>
      </vt:variant>
      <vt:variant>
        <vt:lpstr>Bildrubriker</vt:lpstr>
      </vt:variant>
      <vt:variant>
        <vt:i4>26</vt:i4>
      </vt:variant>
    </vt:vector>
  </HeadingPairs>
  <TitlesOfParts>
    <vt:vector size="34" baseType="lpstr">
      <vt:lpstr>Aptos</vt:lpstr>
      <vt:lpstr>Arial</vt:lpstr>
      <vt:lpstr>Franklin Gothic Demi</vt:lpstr>
      <vt:lpstr>Kristianstads kommun 2024 blå</vt:lpstr>
      <vt:lpstr>Kristianstads kommun 2024 Turkos</vt:lpstr>
      <vt:lpstr>Kristianstads kommun 2024 Grön</vt:lpstr>
      <vt:lpstr>Kristianstads kommun 2024 Orange</vt:lpstr>
      <vt:lpstr>Kristianstads kommun 2024 Varmgrå</vt:lpstr>
      <vt:lpstr>Administrationsgränssnitt </vt:lpstr>
      <vt:lpstr>Origo som container</vt:lpstr>
      <vt:lpstr>Navigation, vyer och hjälp-verktyg</vt:lpstr>
      <vt:lpstr>Lägg till en tjänst</vt:lpstr>
      <vt:lpstr>Hämta tjänsten</vt:lpstr>
      <vt:lpstr>Ange tjänstens typ</vt:lpstr>
      <vt:lpstr>Ange tjänstens egenskaper</vt:lpstr>
      <vt:lpstr>Ange de format som tjänsten erbjuder</vt:lpstr>
      <vt:lpstr>Lägg till en källa</vt:lpstr>
      <vt:lpstr>Ange tjänsten som tillhandahåller källan</vt:lpstr>
      <vt:lpstr>Ange källans egenskaper</vt:lpstr>
      <vt:lpstr>Lägg till ett lager</vt:lpstr>
      <vt:lpstr>Ange lagrets egenskaper</vt:lpstr>
      <vt:lpstr>Förhandsgranska lager</vt:lpstr>
      <vt:lpstr>Kopiera ett lager</vt:lpstr>
      <vt:lpstr>Skapa en lagergrupp</vt:lpstr>
      <vt:lpstr>Ange gruppens egenskaper</vt:lpstr>
      <vt:lpstr>Skapa en karta</vt:lpstr>
      <vt:lpstr>Ange kartans egenskaper</vt:lpstr>
      <vt:lpstr>Skriva kartkonfiguration</vt:lpstr>
      <vt:lpstr>Öppna Info-verktyget</vt:lpstr>
      <vt:lpstr>Använda Info-verktyget</vt:lpstr>
      <vt:lpstr>Hantera mapstates</vt:lpstr>
      <vt:lpstr>Lägga till plugin till karta</vt:lpstr>
      <vt:lpstr>Kom ihåg att skriva kartkonfiguration</vt:lpstr>
      <vt:lpstr>Den publicerade kartan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 Pihel</dc:creator>
  <cp:lastModifiedBy>Henrik Uggla</cp:lastModifiedBy>
  <cp:revision>50</cp:revision>
  <dcterms:created xsi:type="dcterms:W3CDTF">2025-09-01T05:47:46Z</dcterms:created>
  <dcterms:modified xsi:type="dcterms:W3CDTF">2026-09-11T18:43:39Z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0x010100BF93C0C5EE7F83438D3374EF6FC6CFE8</vt:lpwstr>
  </property>
</Properties>
</file>